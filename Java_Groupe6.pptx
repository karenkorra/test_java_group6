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  <p:sldMasterId id="2147483677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Georgia" panose="02040502050405020303" pitchFamily="18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549dd0735_2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g3d549dd0735_2_15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d549dd0735_2_15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549dd0735_2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g3d549dd0735_2_16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d549dd0735_2_16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549dd0735_2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g3d549dd0735_2_19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d549dd0735_2_19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549dd0735_2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g3d549dd0735_2_20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d549dd0735_2_20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549dd0735_2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g3d549dd0735_2_23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d549dd0735_2_23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549dd0735_2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d549dd0735_2_27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d549dd0735_2_27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549dd0735_2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g3d549dd0735_2_28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d549dd0735_2_28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549dd0735_2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5" name="Google Shape;375;g3d549dd0735_2_3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d549dd0735_2_3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d549dd0735_2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" name="Google Shape;439;g3d549dd0735_2_38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d549dd0735_2_38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d549dd0735_2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0" name="Google Shape;510;g3d549dd0735_2_45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d549dd0735_2_45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d549dd0735_2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g3d549dd0735_2_46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d549dd0735_2_46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549dd0735_2_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4" name="Google Shape;574;g3d549dd0735_2_5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g3d549dd0735_2_5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50"/>
              <a:buFont typeface="Century Gothic"/>
              <a:buNone/>
              <a:defRPr sz="405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750"/>
              </a:spcBef>
              <a:spcAft>
                <a:spcPts val="0"/>
              </a:spcAft>
              <a:buSzPts val="135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75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750"/>
              </a:spcBef>
              <a:spcAft>
                <a:spcPts val="0"/>
              </a:spcAft>
              <a:buSzPts val="105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5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5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5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5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5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5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ftr" idx="11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0" y="3242858"/>
            <a:ext cx="1308489" cy="583942"/>
          </a:xfrm>
          <a:custGeom>
            <a:avLst/>
            <a:gdLst/>
            <a:ahLst/>
            <a:cxnLst/>
            <a:rect l="l" t="t" r="r" b="b"/>
            <a:pathLst>
              <a:path w="372" h="166" extrusionOk="0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398860" y="3397155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body" idx="1"/>
          </p:nvPr>
        </p:nvSpPr>
        <p:spPr>
          <a:xfrm>
            <a:off x="1941909" y="1600200"/>
            <a:ext cx="6686550" cy="2833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dt" idx="10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ftr" idx="11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/>
          <p:nvPr/>
        </p:nvSpPr>
        <p:spPr>
          <a:xfrm rot="10800000" flipH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398860" y="590837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  <a:defRPr sz="3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dt" idx="10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ftr" idx="11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7"/>
          <p:cNvSpPr/>
          <p:nvPr/>
        </p:nvSpPr>
        <p:spPr>
          <a:xfrm rot="10800000" flipH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sldNum" idx="12"/>
          </p:nvPr>
        </p:nvSpPr>
        <p:spPr>
          <a:xfrm>
            <a:off x="398860" y="2433105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body" idx="1"/>
          </p:nvPr>
        </p:nvSpPr>
        <p:spPr>
          <a:xfrm>
            <a:off x="1941909" y="1600200"/>
            <a:ext cx="3235398" cy="2833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body" idx="2"/>
          </p:nvPr>
        </p:nvSpPr>
        <p:spPr>
          <a:xfrm>
            <a:off x="5393060" y="1594666"/>
            <a:ext cx="3235398" cy="2833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dt" idx="10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ftr" idx="11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8"/>
          <p:cNvSpPr/>
          <p:nvPr/>
        </p:nvSpPr>
        <p:spPr>
          <a:xfrm rot="10800000" flipH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sldNum" idx="12"/>
          </p:nvPr>
        </p:nvSpPr>
        <p:spPr>
          <a:xfrm>
            <a:off x="398860" y="590837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/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2"/>
          </p:nvPr>
        </p:nvSpPr>
        <p:spPr>
          <a:xfrm>
            <a:off x="1941909" y="1911725"/>
            <a:ext cx="3257170" cy="251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body" idx="3"/>
          </p:nvPr>
        </p:nvSpPr>
        <p:spPr>
          <a:xfrm>
            <a:off x="5629972" y="1477106"/>
            <a:ext cx="2999251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/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body" idx="4"/>
          </p:nvPr>
        </p:nvSpPr>
        <p:spPr>
          <a:xfrm>
            <a:off x="5375218" y="1909304"/>
            <a:ext cx="3254006" cy="251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dt" idx="10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/>
          <p:nvPr/>
        </p:nvSpPr>
        <p:spPr>
          <a:xfrm rot="10800000" flipH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sldNum" idx="12"/>
          </p:nvPr>
        </p:nvSpPr>
        <p:spPr>
          <a:xfrm>
            <a:off x="398860" y="590837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dt" idx="10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ftr" idx="11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/>
          <p:nvPr/>
        </p:nvSpPr>
        <p:spPr>
          <a:xfrm rot="10800000" flipH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ldNum" idx="12"/>
          </p:nvPr>
        </p:nvSpPr>
        <p:spPr>
          <a:xfrm>
            <a:off x="398860" y="590837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dt" idx="10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ftr" idx="11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1"/>
          <p:cNvSpPr/>
          <p:nvPr/>
        </p:nvSpPr>
        <p:spPr>
          <a:xfrm rot="10800000" flipH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sldNum" idx="12"/>
          </p:nvPr>
        </p:nvSpPr>
        <p:spPr>
          <a:xfrm>
            <a:off x="398860" y="590837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entury Gothic"/>
              <a:buNone/>
              <a:defRPr sz="15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body" idx="1"/>
          </p:nvPr>
        </p:nvSpPr>
        <p:spPr>
          <a:xfrm>
            <a:off x="4742259" y="334567"/>
            <a:ext cx="3886200" cy="4061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body" idx="2"/>
          </p:nvPr>
        </p:nvSpPr>
        <p:spPr>
          <a:xfrm>
            <a:off x="1941910" y="1198960"/>
            <a:ext cx="2628899" cy="319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/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dt" idx="10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ftr" idx="11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2"/>
          <p:cNvSpPr/>
          <p:nvPr/>
        </p:nvSpPr>
        <p:spPr>
          <a:xfrm rot="10800000" flipH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sldNum" idx="12"/>
          </p:nvPr>
        </p:nvSpPr>
        <p:spPr>
          <a:xfrm>
            <a:off x="398860" y="590837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entury Gothic"/>
              <a:buNone/>
              <a:defRPr sz="1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3"/>
          <p:cNvSpPr>
            <a:spLocks noGrp="1"/>
          </p:cNvSpPr>
          <p:nvPr>
            <p:ph type="pic" idx="2"/>
          </p:nvPr>
        </p:nvSpPr>
        <p:spPr>
          <a:xfrm>
            <a:off x="1941909" y="476224"/>
            <a:ext cx="6686550" cy="2891228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>
            <a:off x="1941910" y="4025504"/>
            <a:ext cx="6686550" cy="370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900"/>
              <a:buNone/>
              <a:defRPr sz="900"/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dt" idx="10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ftr" idx="11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/>
          <p:nvPr/>
        </p:nvSpPr>
        <p:spPr>
          <a:xfrm rot="10800000" flipH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sldNum" idx="12"/>
          </p:nvPr>
        </p:nvSpPr>
        <p:spPr>
          <a:xfrm>
            <a:off x="398860" y="3737316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sz="36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dt" idx="10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ftr" idx="11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/>
          <p:nvPr/>
        </p:nvSpPr>
        <p:spPr>
          <a:xfrm rot="10800000" flipH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sldNum" idx="12"/>
          </p:nvPr>
        </p:nvSpPr>
        <p:spPr>
          <a:xfrm>
            <a:off x="398860" y="2433105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sz="36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body" idx="1"/>
          </p:nvPr>
        </p:nvSpPr>
        <p:spPr>
          <a:xfrm>
            <a:off x="2456259" y="2628900"/>
            <a:ext cx="565241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200"/>
              <a:buFont typeface="Century Gothic"/>
              <a:buNone/>
              <a:defRPr sz="12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1200"/>
              <a:buFont typeface="Century Gothic"/>
              <a:buNone/>
              <a:defRPr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1050"/>
              <a:buFont typeface="Century Gothic"/>
              <a:buNone/>
              <a:defRPr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900"/>
              <a:buFont typeface="Century Gothic"/>
              <a:buNone/>
              <a:defRPr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900"/>
              <a:buFont typeface="Century Gothic"/>
              <a:buNone/>
              <a:defRPr/>
            </a:lvl5pPr>
            <a:lvl6pPr marL="2743200" lvl="5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body" idx="2"/>
          </p:nvPr>
        </p:nvSpPr>
        <p:spPr>
          <a:xfrm>
            <a:off x="1941910" y="3265535"/>
            <a:ext cx="6686549" cy="116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dt" idx="10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ftr" idx="11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5"/>
          <p:cNvSpPr/>
          <p:nvPr/>
        </p:nvSpPr>
        <p:spPr>
          <a:xfrm rot="10800000" flipH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sldNum" idx="12"/>
          </p:nvPr>
        </p:nvSpPr>
        <p:spPr>
          <a:xfrm>
            <a:off x="398860" y="2433105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65" name="Google Shape;165;p25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66" name="Google Shape;166;p25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sz="36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body" idx="1"/>
          </p:nvPr>
        </p:nvSpPr>
        <p:spPr>
          <a:xfrm>
            <a:off x="1941910" y="3886200"/>
            <a:ext cx="6686550" cy="547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35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dt" idx="10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ftr" idx="11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6"/>
          <p:cNvSpPr/>
          <p:nvPr/>
        </p:nvSpPr>
        <p:spPr>
          <a:xfrm rot="10800000" flipH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6"/>
          <p:cNvSpPr txBox="1">
            <a:spLocks noGrp="1"/>
          </p:cNvSpPr>
          <p:nvPr>
            <p:ph type="sldNum" idx="12"/>
          </p:nvPr>
        </p:nvSpPr>
        <p:spPr>
          <a:xfrm>
            <a:off x="398860" y="3737316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sz="36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7"/>
          <p:cNvSpPr txBox="1">
            <a:spLocks noGrp="1"/>
          </p:cNvSpPr>
          <p:nvPr>
            <p:ph type="body" idx="1"/>
          </p:nvPr>
        </p:nvSpPr>
        <p:spPr>
          <a:xfrm>
            <a:off x="1941909" y="3257550"/>
            <a:ext cx="66865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800"/>
              <a:buFont typeface="Century Gothic"/>
              <a:buNone/>
              <a:defRPr sz="18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1200"/>
              <a:buFont typeface="Century Gothic"/>
              <a:buNone/>
              <a:defRPr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1050"/>
              <a:buFont typeface="Century Gothic"/>
              <a:buNone/>
              <a:defRPr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900"/>
              <a:buFont typeface="Century Gothic"/>
              <a:buNone/>
              <a:defRPr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900"/>
              <a:buFont typeface="Century Gothic"/>
              <a:buNone/>
              <a:defRPr/>
            </a:lvl5pPr>
            <a:lvl6pPr marL="2743200" lvl="5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77" name="Google Shape;177;p27"/>
          <p:cNvSpPr txBox="1">
            <a:spLocks noGrp="1"/>
          </p:cNvSpPr>
          <p:nvPr>
            <p:ph type="body" idx="2"/>
          </p:nvPr>
        </p:nvSpPr>
        <p:spPr>
          <a:xfrm>
            <a:off x="1941910" y="3886200"/>
            <a:ext cx="6686550" cy="547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35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dt" idx="10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ftr" idx="11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7"/>
          <p:cNvSpPr/>
          <p:nvPr/>
        </p:nvSpPr>
        <p:spPr>
          <a:xfrm rot="10800000" flipH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7"/>
          <p:cNvSpPr txBox="1">
            <a:spLocks noGrp="1"/>
          </p:cNvSpPr>
          <p:nvPr>
            <p:ph type="sldNum" idx="12"/>
          </p:nvPr>
        </p:nvSpPr>
        <p:spPr>
          <a:xfrm>
            <a:off x="398860" y="3737316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2" name="Google Shape;182;p27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83" name="Google Shape;183;p2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sz="36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body" idx="1"/>
          </p:nvPr>
        </p:nvSpPr>
        <p:spPr>
          <a:xfrm>
            <a:off x="1941909" y="3257550"/>
            <a:ext cx="66865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800"/>
              <a:buFont typeface="Century Gothic"/>
              <a:buNone/>
              <a:defRPr sz="18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1200"/>
              <a:buFont typeface="Century Gothic"/>
              <a:buNone/>
              <a:defRPr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1050"/>
              <a:buFont typeface="Century Gothic"/>
              <a:buNone/>
              <a:defRPr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900"/>
              <a:buFont typeface="Century Gothic"/>
              <a:buNone/>
              <a:defRPr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900"/>
              <a:buFont typeface="Century Gothic"/>
              <a:buNone/>
              <a:defRPr/>
            </a:lvl5pPr>
            <a:lvl6pPr marL="2743200" lvl="5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87" name="Google Shape;187;p28"/>
          <p:cNvSpPr txBox="1">
            <a:spLocks noGrp="1"/>
          </p:cNvSpPr>
          <p:nvPr>
            <p:ph type="body" idx="2"/>
          </p:nvPr>
        </p:nvSpPr>
        <p:spPr>
          <a:xfrm>
            <a:off x="1941910" y="3886200"/>
            <a:ext cx="6686550" cy="547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35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88" name="Google Shape;188;p28"/>
          <p:cNvSpPr txBox="1">
            <a:spLocks noGrp="1"/>
          </p:cNvSpPr>
          <p:nvPr>
            <p:ph type="dt" idx="10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8"/>
          <p:cNvSpPr txBox="1">
            <a:spLocks noGrp="1"/>
          </p:cNvSpPr>
          <p:nvPr>
            <p:ph type="ftr" idx="11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8"/>
          <p:cNvSpPr/>
          <p:nvPr/>
        </p:nvSpPr>
        <p:spPr>
          <a:xfrm rot="10800000" flipH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8"/>
          <p:cNvSpPr txBox="1">
            <a:spLocks noGrp="1"/>
          </p:cNvSpPr>
          <p:nvPr>
            <p:ph type="sldNum" idx="12"/>
          </p:nvPr>
        </p:nvSpPr>
        <p:spPr>
          <a:xfrm>
            <a:off x="398860" y="3737316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9"/>
          <p:cNvSpPr txBox="1">
            <a:spLocks noGrp="1"/>
          </p:cNvSpPr>
          <p:nvPr>
            <p:ph type="body" idx="1"/>
          </p:nvPr>
        </p:nvSpPr>
        <p:spPr>
          <a:xfrm rot="5400000">
            <a:off x="3827859" y="-285750"/>
            <a:ext cx="2914650" cy="668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95" name="Google Shape;195;p29"/>
          <p:cNvSpPr txBox="1">
            <a:spLocks noGrp="1"/>
          </p:cNvSpPr>
          <p:nvPr>
            <p:ph type="dt" idx="10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9"/>
          <p:cNvSpPr txBox="1">
            <a:spLocks noGrp="1"/>
          </p:cNvSpPr>
          <p:nvPr>
            <p:ph type="ftr" idx="11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9"/>
          <p:cNvSpPr/>
          <p:nvPr/>
        </p:nvSpPr>
        <p:spPr>
          <a:xfrm rot="10800000" flipH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9"/>
          <p:cNvSpPr txBox="1">
            <a:spLocks noGrp="1"/>
          </p:cNvSpPr>
          <p:nvPr>
            <p:ph type="sldNum" idx="12"/>
          </p:nvPr>
        </p:nvSpPr>
        <p:spPr>
          <a:xfrm>
            <a:off x="398860" y="590837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>
            <a:spLocks noGrp="1"/>
          </p:cNvSpPr>
          <p:nvPr>
            <p:ph type="title"/>
          </p:nvPr>
        </p:nvSpPr>
        <p:spPr>
          <a:xfrm rot="5400000">
            <a:off x="5817528" y="1624135"/>
            <a:ext cx="3962863" cy="1655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0"/>
          <p:cNvSpPr txBox="1">
            <a:spLocks noGrp="1"/>
          </p:cNvSpPr>
          <p:nvPr>
            <p:ph type="body" idx="1"/>
          </p:nvPr>
        </p:nvSpPr>
        <p:spPr>
          <a:xfrm rot="5400000">
            <a:off x="2389352" y="23110"/>
            <a:ext cx="3962863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75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202" name="Google Shape;202;p30"/>
          <p:cNvSpPr txBox="1">
            <a:spLocks noGrp="1"/>
          </p:cNvSpPr>
          <p:nvPr>
            <p:ph type="dt" idx="10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30"/>
          <p:cNvSpPr txBox="1">
            <a:spLocks noGrp="1"/>
          </p:cNvSpPr>
          <p:nvPr>
            <p:ph type="ftr" idx="11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30"/>
          <p:cNvSpPr/>
          <p:nvPr/>
        </p:nvSpPr>
        <p:spPr>
          <a:xfrm rot="10800000" flipH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sldNum" idx="12"/>
          </p:nvPr>
        </p:nvSpPr>
        <p:spPr>
          <a:xfrm>
            <a:off x="398860" y="590837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6E4C3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52" name="Google Shape;52;p13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" name="Google Shape;64;p13"/>
          <p:cNvGrpSpPr/>
          <p:nvPr/>
        </p:nvGrpSpPr>
        <p:grpSpPr>
          <a:xfrm>
            <a:off x="20416" y="-24"/>
            <a:ext cx="1767506" cy="5139964"/>
            <a:chOff x="6627813" y="195454"/>
            <a:chExt cx="1952625" cy="5678297"/>
          </a:xfrm>
        </p:grpSpPr>
        <p:sp>
          <p:nvSpPr>
            <p:cNvPr id="65" name="Google Shape;65;p13"/>
            <p:cNvSpPr/>
            <p:nvPr/>
          </p:nvSpPr>
          <p:spPr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700"/>
              <a:buFont typeface="Century Gothic"/>
              <a:buNone/>
              <a:defRPr sz="2700" b="0" i="0" u="none" strike="noStrike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4325" algn="l" rtl="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🠶"/>
              <a:defRPr sz="135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5275" algn="l" rtl="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🠶"/>
              <a:defRPr sz="105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🠶"/>
              <a:defRPr sz="9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5750" algn="l" rtl="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🠶"/>
              <a:defRPr sz="9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5750" algn="l" rtl="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🠶"/>
              <a:defRPr sz="9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5750" algn="l" rtl="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🠶"/>
              <a:defRPr sz="9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5750" algn="l" rtl="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🠶"/>
              <a:defRPr sz="9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5750" algn="l" rtl="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🠶"/>
              <a:defRPr sz="9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dt" idx="10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ftr" idx="11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ldNum" idx="12"/>
          </p:nvPr>
        </p:nvSpPr>
        <p:spPr>
          <a:xfrm>
            <a:off x="398860" y="590837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solidFill>
            <a:srgbClr val="F7C948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1"/>
          <p:cNvSpPr/>
          <p:nvPr/>
        </p:nvSpPr>
        <p:spPr>
          <a:xfrm>
            <a:off x="8686800" y="-6578"/>
            <a:ext cx="457200" cy="457200"/>
          </a:xfrm>
          <a:prstGeom prst="rect">
            <a:avLst/>
          </a:prstGeom>
          <a:solidFill>
            <a:srgbClr val="F7C948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31"/>
          <p:cNvSpPr/>
          <p:nvPr/>
        </p:nvSpPr>
        <p:spPr>
          <a:xfrm>
            <a:off x="0" y="4686300"/>
            <a:ext cx="457200" cy="457200"/>
          </a:xfrm>
          <a:prstGeom prst="rect">
            <a:avLst/>
          </a:prstGeom>
          <a:solidFill>
            <a:srgbClr val="F7C948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31"/>
          <p:cNvSpPr/>
          <p:nvPr/>
        </p:nvSpPr>
        <p:spPr>
          <a:xfrm>
            <a:off x="8686800" y="4686300"/>
            <a:ext cx="457200" cy="457200"/>
          </a:xfrm>
          <a:prstGeom prst="rect">
            <a:avLst/>
          </a:prstGeom>
          <a:solidFill>
            <a:srgbClr val="F7C948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1"/>
          <p:cNvSpPr/>
          <p:nvPr/>
        </p:nvSpPr>
        <p:spPr>
          <a:xfrm>
            <a:off x="914400" y="7315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</a:pP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p31"/>
          <p:cNvSpPr/>
          <p:nvPr/>
        </p:nvSpPr>
        <p:spPr>
          <a:xfrm>
            <a:off x="822302" y="1569147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5800"/>
              <a:buFont typeface="Georgia"/>
              <a:buNone/>
            </a:pPr>
            <a:r>
              <a:rPr lang="fr" sz="5800" b="1" i="0" u="none" strike="noStrike" cap="none" dirty="0" smtClean="0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Java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5800"/>
              <a:buFont typeface="Georgia"/>
              <a:buNone/>
            </a:pPr>
            <a:r>
              <a:rPr lang="fr" sz="1800" b="1" dirty="0" smtClean="0">
                <a:solidFill>
                  <a:srgbClr val="F5F0E8"/>
                </a:solidFill>
                <a:latin typeface="Georgia"/>
                <a:ea typeface="Century Gothic"/>
                <a:cs typeface="Century Gothic"/>
                <a:sym typeface="Georgia"/>
              </a:rPr>
              <a:t>L3 Devops</a:t>
            </a:r>
            <a:endParaRPr sz="1800" b="0" i="0" u="none" strike="noStrike" cap="non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7" name="Google Shape;217;p31"/>
          <p:cNvSpPr/>
          <p:nvPr/>
        </p:nvSpPr>
        <p:spPr>
          <a:xfrm>
            <a:off x="914400" y="4206240"/>
            <a:ext cx="7315200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b="0" i="0" u="none" strike="noStrike" cap="none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Groupe : </a:t>
            </a:r>
            <a:r>
              <a:rPr lang="fr" sz="1100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dirty="0" smtClean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Membres</a:t>
            </a:r>
            <a:r>
              <a:rPr lang="fr" sz="1100" b="0" i="0" u="none" strike="noStrike" cap="none" dirty="0" smtClean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" sz="1100" b="0" i="0" u="none" strike="noStrike" cap="none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lang="en-US" sz="1100" b="0" i="0" u="none" strike="noStrike" cap="none" dirty="0" smtClean="0">
              <a:solidFill>
                <a:srgbClr val="9BBF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 algn="ctr">
              <a:buFontTx/>
              <a:buChar char="-"/>
            </a:pPr>
            <a:r>
              <a:rPr lang="fr-FR" sz="1100" dirty="0" smtClean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RAKOTOMALALA </a:t>
            </a:r>
            <a:r>
              <a:rPr lang="fr-FR" sz="1100" dirty="0" err="1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Tsantaniaina</a:t>
            </a:r>
            <a:r>
              <a:rPr lang="fr-FR" sz="1100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100" dirty="0" smtClean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Karen</a:t>
            </a:r>
          </a:p>
          <a:p>
            <a:pPr marL="171450" indent="-171450" algn="ctr">
              <a:buFontTx/>
              <a:buChar char="-"/>
            </a:pPr>
            <a:r>
              <a:rPr lang="en-US" sz="1100" dirty="0" smtClean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RAMANGALAHY </a:t>
            </a:r>
            <a:r>
              <a:rPr lang="en-US" sz="1100" dirty="0" err="1" smtClean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Heriniaina</a:t>
            </a:r>
            <a:r>
              <a:rPr lang="en-US" sz="1100" dirty="0" smtClean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dirty="0" err="1" smtClean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Tiavina</a:t>
            </a:r>
            <a:r>
              <a:rPr lang="en-US" sz="1100" dirty="0" smtClean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fr-FR" sz="1100" dirty="0" smtClean="0">
              <a:solidFill>
                <a:srgbClr val="9BBF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C948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2"/>
          <p:cNvSpPr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600"/>
              <a:buFont typeface="Georgia"/>
              <a:buNone/>
            </a:pPr>
            <a:r>
              <a:rPr lang="fr" sz="2600" b="1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Plan 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5" name="Google Shape;225;p32"/>
          <p:cNvSpPr/>
          <p:nvPr/>
        </p:nvSpPr>
        <p:spPr>
          <a:xfrm>
            <a:off x="365760" y="1115568"/>
            <a:ext cx="3931920" cy="1463040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32"/>
          <p:cNvSpPr/>
          <p:nvPr/>
        </p:nvSpPr>
        <p:spPr>
          <a:xfrm>
            <a:off x="530352" y="1225296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3200"/>
              <a:buFont typeface="Georgia"/>
              <a:buNone/>
            </a:pPr>
            <a:r>
              <a:rPr lang="fr" sz="3200" b="1">
                <a:solidFill>
                  <a:srgbClr val="F7C948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7" name="Google Shape;227;p32"/>
          <p:cNvSpPr/>
          <p:nvPr/>
        </p:nvSpPr>
        <p:spPr>
          <a:xfrm>
            <a:off x="530352" y="1810512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Georgia"/>
              <a:buNone/>
            </a:pPr>
            <a:r>
              <a:rPr lang="fr" sz="1500" b="1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Post-incrémentation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8" name="Google Shape;228;p32"/>
          <p:cNvSpPr/>
          <p:nvPr/>
        </p:nvSpPr>
        <p:spPr>
          <a:xfrm>
            <a:off x="530352" y="215798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i++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9" name="Google Shape;229;p32"/>
          <p:cNvSpPr/>
          <p:nvPr/>
        </p:nvSpPr>
        <p:spPr>
          <a:xfrm>
            <a:off x="3977640" y="1250163"/>
            <a:ext cx="201168" cy="201168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2"/>
          <p:cNvSpPr/>
          <p:nvPr/>
        </p:nvSpPr>
        <p:spPr>
          <a:xfrm>
            <a:off x="4709160" y="1115568"/>
            <a:ext cx="3931920" cy="1463040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rgbClr val="7EC8E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32"/>
          <p:cNvSpPr/>
          <p:nvPr/>
        </p:nvSpPr>
        <p:spPr>
          <a:xfrm>
            <a:off x="4873752" y="1225296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3200"/>
              <a:buFont typeface="Georgia"/>
              <a:buNone/>
            </a:pPr>
            <a:r>
              <a:rPr lang="fr" sz="3200" b="1">
                <a:solidFill>
                  <a:srgbClr val="7EC8E3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2" name="Google Shape;232;p32"/>
          <p:cNvSpPr/>
          <p:nvPr/>
        </p:nvSpPr>
        <p:spPr>
          <a:xfrm>
            <a:off x="4873752" y="1810512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Georgia"/>
              <a:buNone/>
            </a:pPr>
            <a:r>
              <a:rPr lang="fr" sz="1500" b="1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Pré-incrémentation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p32"/>
          <p:cNvSpPr/>
          <p:nvPr/>
        </p:nvSpPr>
        <p:spPr>
          <a:xfrm>
            <a:off x="4873752" y="215798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++i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p32"/>
          <p:cNvSpPr/>
          <p:nvPr/>
        </p:nvSpPr>
        <p:spPr>
          <a:xfrm>
            <a:off x="8321040" y="1243584"/>
            <a:ext cx="201168" cy="201168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rgbClr val="7EC8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32"/>
          <p:cNvSpPr/>
          <p:nvPr/>
        </p:nvSpPr>
        <p:spPr>
          <a:xfrm>
            <a:off x="365760" y="2807208"/>
            <a:ext cx="3931920" cy="1463040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rgbClr val="C3A0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2"/>
          <p:cNvSpPr/>
          <p:nvPr/>
        </p:nvSpPr>
        <p:spPr>
          <a:xfrm>
            <a:off x="530352" y="2916936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3A0E8"/>
              </a:buClr>
              <a:buSzPts val="3200"/>
              <a:buFont typeface="Georgia"/>
              <a:buNone/>
            </a:pPr>
            <a:r>
              <a:rPr lang="fr" sz="3200" b="1">
                <a:solidFill>
                  <a:srgbClr val="C3A0E8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7" name="Google Shape;237;p32"/>
          <p:cNvSpPr/>
          <p:nvPr/>
        </p:nvSpPr>
        <p:spPr>
          <a:xfrm>
            <a:off x="530352" y="3502152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Georgia"/>
              <a:buNone/>
            </a:pPr>
            <a:r>
              <a:rPr lang="fr" sz="1500" b="1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Algorithmes de tri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8" name="Google Shape;238;p32"/>
          <p:cNvSpPr/>
          <p:nvPr/>
        </p:nvSpPr>
        <p:spPr>
          <a:xfrm>
            <a:off x="530352" y="384962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sélection · bulles · insertion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9" name="Google Shape;239;p32"/>
          <p:cNvSpPr/>
          <p:nvPr/>
        </p:nvSpPr>
        <p:spPr>
          <a:xfrm>
            <a:off x="3977640" y="2935224"/>
            <a:ext cx="201168" cy="201168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rgbClr val="C3A0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2"/>
          <p:cNvSpPr/>
          <p:nvPr/>
        </p:nvSpPr>
        <p:spPr>
          <a:xfrm>
            <a:off x="4709160" y="2807208"/>
            <a:ext cx="3931920" cy="1463040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rgbClr val="6FCF7F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32"/>
          <p:cNvSpPr/>
          <p:nvPr/>
        </p:nvSpPr>
        <p:spPr>
          <a:xfrm>
            <a:off x="4873752" y="2916936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CF7F"/>
              </a:buClr>
              <a:buSzPts val="3200"/>
              <a:buFont typeface="Georgia"/>
              <a:buNone/>
            </a:pPr>
            <a:r>
              <a:rPr lang="fr" sz="3200" b="1">
                <a:solidFill>
                  <a:srgbClr val="6FCF7F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p32"/>
          <p:cNvSpPr/>
          <p:nvPr/>
        </p:nvSpPr>
        <p:spPr>
          <a:xfrm>
            <a:off x="4873752" y="3502152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Georgia"/>
              <a:buNone/>
            </a:pPr>
            <a:r>
              <a:rPr lang="fr" sz="1500" b="1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Algorithmes de recherche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4873752" y="384962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linéaire · binaire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4" name="Google Shape;244;p32"/>
          <p:cNvSpPr/>
          <p:nvPr/>
        </p:nvSpPr>
        <p:spPr>
          <a:xfrm>
            <a:off x="8321040" y="2935224"/>
            <a:ext cx="201168" cy="201168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rgbClr val="6FC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/>
          <p:nvPr/>
        </p:nvSpPr>
        <p:spPr>
          <a:xfrm>
            <a:off x="365760" y="73152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322"/>
              </a:buClr>
              <a:buSzPts val="9000"/>
              <a:buFont typeface="Georgia"/>
              <a:buNone/>
            </a:pPr>
            <a:r>
              <a:rPr lang="fr" sz="9000" b="1">
                <a:solidFill>
                  <a:srgbClr val="223322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9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1" name="Google Shape;251;p33"/>
          <p:cNvSpPr/>
          <p:nvPr/>
        </p:nvSpPr>
        <p:spPr>
          <a:xfrm>
            <a:off x="365760" y="731520"/>
            <a:ext cx="109728" cy="3474720"/>
          </a:xfrm>
          <a:prstGeom prst="rect">
            <a:avLst/>
          </a:prstGeom>
          <a:solidFill>
            <a:srgbClr val="F7C948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3"/>
          <p:cNvSpPr/>
          <p:nvPr/>
        </p:nvSpPr>
        <p:spPr>
          <a:xfrm>
            <a:off x="658368" y="86868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4600"/>
              <a:buFont typeface="Georgia"/>
              <a:buNone/>
            </a:pPr>
            <a:r>
              <a:rPr lang="fr" sz="4600" b="1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Incrémentation</a:t>
            </a:r>
            <a:endParaRPr sz="4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3" name="Google Shape;253;p33"/>
          <p:cNvSpPr/>
          <p:nvPr/>
        </p:nvSpPr>
        <p:spPr>
          <a:xfrm>
            <a:off x="658368" y="1664208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3600"/>
              <a:buFont typeface="Georgia"/>
              <a:buNone/>
            </a:pPr>
            <a:r>
              <a:rPr lang="fr" sz="3600">
                <a:solidFill>
                  <a:srgbClr val="F7C948"/>
                </a:solidFill>
                <a:latin typeface="Georgia"/>
                <a:ea typeface="Georgia"/>
                <a:cs typeface="Georgia"/>
                <a:sym typeface="Georgia"/>
              </a:rPr>
              <a:t>en Java</a:t>
            </a:r>
            <a:endParaRPr sz="3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4" name="Google Shape;254;p33"/>
          <p:cNvSpPr/>
          <p:nvPr/>
        </p:nvSpPr>
        <p:spPr>
          <a:xfrm>
            <a:off x="658368" y="32004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500"/>
              <a:buFont typeface="Calibri"/>
              <a:buNone/>
            </a:pPr>
            <a:r>
              <a:rPr lang="fr" sz="1500" i="1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Comprendre la différence entre  i++  et  ++i</a:t>
            </a:r>
            <a:endParaRPr sz="15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822960" y="30632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300"/>
              <a:buFont typeface="Calibri"/>
              <a:buNone/>
            </a:pPr>
            <a:endParaRPr sz="13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7" name="Google Shape;257;p3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C948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C948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34"/>
          <p:cNvSpPr/>
          <p:nvPr/>
        </p:nvSpPr>
        <p:spPr>
          <a:xfrm>
            <a:off x="411480" y="102801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600"/>
              <a:buFont typeface="Georgia"/>
              <a:buNone/>
            </a:pPr>
            <a:r>
              <a:rPr lang="fr" sz="2600" b="1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Post-incrémentation  —  i++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365760" y="87215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Code 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7" name="Google Shape;267;p34"/>
          <p:cNvSpPr/>
          <p:nvPr/>
        </p:nvSpPr>
        <p:spPr>
          <a:xfrm>
            <a:off x="365760" y="1165754"/>
            <a:ext cx="3657600" cy="2084832"/>
          </a:xfrm>
          <a:prstGeom prst="rect">
            <a:avLst/>
          </a:prstGeom>
          <a:solidFill>
            <a:srgbClr val="0D1F0D"/>
          </a:solidFill>
          <a:ln w="9525" cap="flat" cmpd="sng">
            <a:solidFill>
              <a:srgbClr val="9B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4"/>
          <p:cNvSpPr/>
          <p:nvPr/>
        </p:nvSpPr>
        <p:spPr>
          <a:xfrm>
            <a:off x="411480" y="1591942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ourier New"/>
              <a:buNone/>
            </a:pPr>
            <a:r>
              <a:rPr lang="fr" sz="1200" dirty="0">
                <a:solidFill>
                  <a:srgbClr val="F5F0E8"/>
                </a:solidFill>
                <a:latin typeface="Courier New"/>
                <a:ea typeface="Courier New"/>
                <a:cs typeface="Courier New"/>
                <a:sym typeface="Courier New"/>
              </a:rPr>
              <a:t>int i = 2;</a:t>
            </a: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9" name="Google Shape;269;p34"/>
          <p:cNvSpPr/>
          <p:nvPr/>
        </p:nvSpPr>
        <p:spPr>
          <a:xfrm>
            <a:off x="404622" y="2052722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ourier New"/>
              <a:buNone/>
            </a:pPr>
            <a:r>
              <a:rPr lang="fr" sz="1200" dirty="0">
                <a:solidFill>
                  <a:srgbClr val="F5F0E8"/>
                </a:solidFill>
                <a:latin typeface="Courier New"/>
                <a:ea typeface="Courier New"/>
                <a:cs typeface="Courier New"/>
                <a:sym typeface="Courier New"/>
              </a:rPr>
              <a:t>int res = i++;</a:t>
            </a: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0" name="Google Shape;270;p34"/>
          <p:cNvSpPr/>
          <p:nvPr/>
        </p:nvSpPr>
        <p:spPr>
          <a:xfrm>
            <a:off x="411480" y="1887138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1" name="Google Shape;271;p34"/>
          <p:cNvSpPr/>
          <p:nvPr/>
        </p:nvSpPr>
        <p:spPr>
          <a:xfrm>
            <a:off x="617220" y="2202606"/>
            <a:ext cx="3429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entury Gothic"/>
              <a:buNone/>
            </a:pP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2" name="Google Shape;272;p34"/>
          <p:cNvSpPr/>
          <p:nvPr/>
        </p:nvSpPr>
        <p:spPr>
          <a:xfrm>
            <a:off x="601218" y="2537709"/>
            <a:ext cx="3429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entury Gothic"/>
              <a:buNone/>
            </a:pP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3" name="Google Shape;273;p34"/>
          <p:cNvSpPr/>
          <p:nvPr/>
        </p:nvSpPr>
        <p:spPr>
          <a:xfrm>
            <a:off x="4343400" y="87048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Étapes d'exécution 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4" name="Google Shape;274;p34"/>
          <p:cNvSpPr/>
          <p:nvPr/>
        </p:nvSpPr>
        <p:spPr>
          <a:xfrm>
            <a:off x="4343400" y="1163168"/>
            <a:ext cx="4480560" cy="960120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34"/>
          <p:cNvSpPr/>
          <p:nvPr/>
        </p:nvSpPr>
        <p:spPr>
          <a:xfrm>
            <a:off x="4453128" y="1425915"/>
            <a:ext cx="384048" cy="384048"/>
          </a:xfrm>
          <a:prstGeom prst="ellipse">
            <a:avLst/>
          </a:prstGeom>
          <a:solidFill>
            <a:srgbClr val="F7C948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34"/>
          <p:cNvSpPr/>
          <p:nvPr/>
        </p:nvSpPr>
        <p:spPr>
          <a:xfrm>
            <a:off x="4453128" y="140250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1A"/>
              </a:buClr>
              <a:buSzPts val="1400"/>
              <a:buFont typeface="Georgia"/>
              <a:buNone/>
            </a:pPr>
            <a:r>
              <a:rPr lang="fr" sz="1400" b="1">
                <a:solidFill>
                  <a:srgbClr val="1A2E1A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7" name="Google Shape;277;p34"/>
          <p:cNvSpPr/>
          <p:nvPr/>
        </p:nvSpPr>
        <p:spPr>
          <a:xfrm>
            <a:off x="4969764" y="1421290"/>
            <a:ext cx="37673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200"/>
              <a:buFont typeface="Georgia"/>
              <a:buNone/>
            </a:pPr>
            <a:r>
              <a:rPr lang="fr" sz="1200" b="1">
                <a:solidFill>
                  <a:srgbClr val="F7C948"/>
                </a:solidFill>
                <a:latin typeface="Georgia"/>
                <a:ea typeface="Georgia"/>
                <a:cs typeface="Georgia"/>
                <a:sym typeface="Georgia"/>
              </a:rPr>
              <a:t>Quelle valeur est lue ?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p34"/>
          <p:cNvSpPr/>
          <p:nvPr/>
        </p:nvSpPr>
        <p:spPr>
          <a:xfrm>
            <a:off x="4969764" y="1558946"/>
            <a:ext cx="37216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900"/>
              <a:buFont typeface="Courier New"/>
              <a:buNone/>
            </a:pPr>
            <a:r>
              <a:rPr lang="fr" sz="900" i="1">
                <a:solidFill>
                  <a:srgbClr val="F7C948"/>
                </a:solidFill>
                <a:latin typeface="Courier New"/>
                <a:ea typeface="Courier New"/>
                <a:cs typeface="Courier New"/>
                <a:sym typeface="Courier New"/>
              </a:rPr>
              <a:t>i = 2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9" name="Google Shape;279;p34"/>
          <p:cNvSpPr/>
          <p:nvPr/>
        </p:nvSpPr>
        <p:spPr>
          <a:xfrm>
            <a:off x="4343400" y="2265161"/>
            <a:ext cx="4480560" cy="960120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rgbClr val="F4A46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34"/>
          <p:cNvSpPr/>
          <p:nvPr/>
        </p:nvSpPr>
        <p:spPr>
          <a:xfrm>
            <a:off x="4432554" y="2471220"/>
            <a:ext cx="384048" cy="384048"/>
          </a:xfrm>
          <a:prstGeom prst="ellipse">
            <a:avLst/>
          </a:prstGeom>
          <a:solidFill>
            <a:srgbClr val="F4A460"/>
          </a:solidFill>
          <a:ln w="12700" cap="flat" cmpd="sng">
            <a:solidFill>
              <a:srgbClr val="F4A4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4"/>
          <p:cNvSpPr/>
          <p:nvPr/>
        </p:nvSpPr>
        <p:spPr>
          <a:xfrm>
            <a:off x="4432554" y="24684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1A"/>
              </a:buClr>
              <a:buSzPts val="1400"/>
              <a:buFont typeface="Georgia"/>
              <a:buNone/>
            </a:pPr>
            <a:r>
              <a:rPr lang="fr" sz="1400" b="1">
                <a:solidFill>
                  <a:srgbClr val="1A2E1A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2" name="Google Shape;282;p34"/>
          <p:cNvSpPr/>
          <p:nvPr/>
        </p:nvSpPr>
        <p:spPr>
          <a:xfrm>
            <a:off x="4937760" y="2472585"/>
            <a:ext cx="37673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460"/>
              </a:buClr>
              <a:buSzPts val="1200"/>
              <a:buFont typeface="Georgia"/>
              <a:buNone/>
            </a:pPr>
            <a:r>
              <a:rPr lang="fr" sz="1200" b="1">
                <a:solidFill>
                  <a:srgbClr val="F4A460"/>
                </a:solidFill>
                <a:latin typeface="Georgia"/>
                <a:ea typeface="Georgia"/>
                <a:cs typeface="Georgia"/>
                <a:sym typeface="Georgia"/>
              </a:rPr>
              <a:t>Que reçoit res ?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3" name="Google Shape;283;p34"/>
          <p:cNvSpPr/>
          <p:nvPr/>
        </p:nvSpPr>
        <p:spPr>
          <a:xfrm>
            <a:off x="4983480" y="2695088"/>
            <a:ext cx="37216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460"/>
              </a:buClr>
              <a:buSzPts val="900"/>
              <a:buFont typeface="Courier New"/>
              <a:buNone/>
            </a:pPr>
            <a:r>
              <a:rPr lang="fr" sz="900" i="1">
                <a:solidFill>
                  <a:srgbClr val="F4A460"/>
                </a:solidFill>
                <a:latin typeface="Courier New"/>
                <a:ea typeface="Courier New"/>
                <a:cs typeface="Courier New"/>
                <a:sym typeface="Courier New"/>
              </a:rPr>
              <a:t>res = 2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4" name="Google Shape;284;p34"/>
          <p:cNvSpPr/>
          <p:nvPr/>
        </p:nvSpPr>
        <p:spPr>
          <a:xfrm>
            <a:off x="4343400" y="3343692"/>
            <a:ext cx="4480560" cy="960120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rgbClr val="7EC8E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4"/>
          <p:cNvSpPr/>
          <p:nvPr/>
        </p:nvSpPr>
        <p:spPr>
          <a:xfrm>
            <a:off x="4453128" y="3504208"/>
            <a:ext cx="384048" cy="384048"/>
          </a:xfrm>
          <a:prstGeom prst="ellipse">
            <a:avLst/>
          </a:prstGeom>
          <a:solidFill>
            <a:srgbClr val="7EC8E3"/>
          </a:solidFill>
          <a:ln w="12700" cap="flat" cmpd="sng">
            <a:solidFill>
              <a:srgbClr val="7EC8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4"/>
          <p:cNvSpPr/>
          <p:nvPr/>
        </p:nvSpPr>
        <p:spPr>
          <a:xfrm>
            <a:off x="4453128" y="348733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1A"/>
              </a:buClr>
              <a:buSzPts val="1400"/>
              <a:buFont typeface="Georgia"/>
              <a:buNone/>
            </a:pPr>
            <a:r>
              <a:rPr lang="fr" sz="1400" b="1">
                <a:solidFill>
                  <a:srgbClr val="1A2E1A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4937760" y="3578778"/>
            <a:ext cx="37673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200"/>
              <a:buFont typeface="Georgia"/>
              <a:buNone/>
            </a:pPr>
            <a:r>
              <a:rPr lang="fr" sz="1200" b="1">
                <a:solidFill>
                  <a:srgbClr val="7EC8E3"/>
                </a:solidFill>
                <a:latin typeface="Georgia"/>
                <a:ea typeface="Georgia"/>
                <a:cs typeface="Georgia"/>
                <a:sym typeface="Georgia"/>
              </a:rPr>
              <a:t>Que devient i ?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8" name="Google Shape;288;p34"/>
          <p:cNvSpPr/>
          <p:nvPr/>
        </p:nvSpPr>
        <p:spPr>
          <a:xfrm>
            <a:off x="4983480" y="3818665"/>
            <a:ext cx="37216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900"/>
              <a:buFont typeface="Courier New"/>
              <a:buNone/>
            </a:pPr>
            <a:r>
              <a:rPr lang="fr" sz="900" i="1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i = 3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9" name="Google Shape;289;p34"/>
          <p:cNvSpPr/>
          <p:nvPr/>
        </p:nvSpPr>
        <p:spPr>
          <a:xfrm>
            <a:off x="365760" y="4454120"/>
            <a:ext cx="8412480" cy="566928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rgbClr val="892C1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4"/>
          <p:cNvSpPr/>
          <p:nvPr/>
        </p:nvSpPr>
        <p:spPr>
          <a:xfrm>
            <a:off x="548640" y="4428815"/>
            <a:ext cx="81107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Georgia"/>
              <a:buNone/>
            </a:pPr>
            <a:r>
              <a:rPr lang="fr" sz="1300" b="1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Règle  i++ : </a:t>
            </a:r>
            <a:r>
              <a:rPr lang="fr" sz="1300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on utilise la valeur actuelle de </a:t>
            </a:r>
            <a:r>
              <a:rPr lang="fr" sz="1300" b="1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i </a:t>
            </a:r>
            <a:r>
              <a:rPr lang="fr" sz="1300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puis on incremente après   </a:t>
            </a:r>
            <a:endParaRPr sz="1300" dirty="0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1" name="Google Shape;291;p34"/>
          <p:cNvSpPr/>
          <p:nvPr/>
        </p:nvSpPr>
        <p:spPr>
          <a:xfrm>
            <a:off x="2423160" y="4536416"/>
            <a:ext cx="61264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</a:pP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/>
          <p:nvPr/>
        </p:nvSpPr>
        <p:spPr>
          <a:xfrm>
            <a:off x="0" y="-6578"/>
            <a:ext cx="9144000" cy="54864"/>
          </a:xfrm>
          <a:prstGeom prst="rect">
            <a:avLst/>
          </a:prstGeom>
          <a:solidFill>
            <a:srgbClr val="F7C948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5"/>
          <p:cNvSpPr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600"/>
              <a:buFont typeface="Georgia"/>
              <a:buNone/>
            </a:pPr>
            <a:r>
              <a:rPr lang="fr" sz="2600" b="1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Pré-incrémentation  —  ++i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0" name="Google Shape;300;p35"/>
          <p:cNvSpPr/>
          <p:nvPr/>
        </p:nvSpPr>
        <p:spPr>
          <a:xfrm>
            <a:off x="365760" y="906835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Code 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1" name="Google Shape;301;p35"/>
          <p:cNvSpPr/>
          <p:nvPr/>
        </p:nvSpPr>
        <p:spPr>
          <a:xfrm>
            <a:off x="365760" y="1254931"/>
            <a:ext cx="3657600" cy="2084832"/>
          </a:xfrm>
          <a:prstGeom prst="rect">
            <a:avLst/>
          </a:prstGeom>
          <a:solidFill>
            <a:srgbClr val="0D1F0D"/>
          </a:solidFill>
          <a:ln w="9525" cap="flat" cmpd="sng">
            <a:solidFill>
              <a:srgbClr val="9B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5"/>
          <p:cNvSpPr/>
          <p:nvPr/>
        </p:nvSpPr>
        <p:spPr>
          <a:xfrm>
            <a:off x="502920" y="1896293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ourier New"/>
              <a:buNone/>
            </a:pPr>
            <a:r>
              <a:rPr lang="fr" sz="1200" dirty="0">
                <a:solidFill>
                  <a:srgbClr val="F5F0E8"/>
                </a:solidFill>
                <a:latin typeface="Courier New"/>
                <a:ea typeface="Courier New"/>
                <a:cs typeface="Courier New"/>
                <a:sym typeface="Courier New"/>
              </a:rPr>
              <a:t>int i = 2;</a:t>
            </a: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3" name="Google Shape;303;p35"/>
          <p:cNvSpPr/>
          <p:nvPr/>
        </p:nvSpPr>
        <p:spPr>
          <a:xfrm>
            <a:off x="502920" y="2255229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ourier New"/>
              <a:buNone/>
            </a:pPr>
            <a:r>
              <a:rPr lang="fr" sz="1200" dirty="0">
                <a:solidFill>
                  <a:srgbClr val="F5F0E8"/>
                </a:solidFill>
                <a:latin typeface="Courier New"/>
                <a:ea typeface="Courier New"/>
                <a:cs typeface="Courier New"/>
                <a:sym typeface="Courier New"/>
              </a:rPr>
              <a:t>int res = ++i;</a:t>
            </a: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4" name="Google Shape;304;p35"/>
          <p:cNvSpPr/>
          <p:nvPr/>
        </p:nvSpPr>
        <p:spPr>
          <a:xfrm>
            <a:off x="502920" y="2203704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5" name="Google Shape;305;p35"/>
          <p:cNvSpPr/>
          <p:nvPr/>
        </p:nvSpPr>
        <p:spPr>
          <a:xfrm>
            <a:off x="502920" y="2624328"/>
            <a:ext cx="3429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entury Gothic"/>
              <a:buNone/>
            </a:pP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6" name="Google Shape;306;p35"/>
          <p:cNvSpPr/>
          <p:nvPr/>
        </p:nvSpPr>
        <p:spPr>
          <a:xfrm>
            <a:off x="502920" y="3008376"/>
            <a:ext cx="3429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entury Gothic"/>
              <a:buNone/>
            </a:pP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7" name="Google Shape;307;p35"/>
          <p:cNvSpPr/>
          <p:nvPr/>
        </p:nvSpPr>
        <p:spPr>
          <a:xfrm>
            <a:off x="4300706" y="900914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Étapes d'exécution 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8" name="Google Shape;308;p35"/>
          <p:cNvSpPr/>
          <p:nvPr/>
        </p:nvSpPr>
        <p:spPr>
          <a:xfrm>
            <a:off x="4300706" y="1269338"/>
            <a:ext cx="4480560" cy="960120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rgbClr val="7EC8E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5"/>
          <p:cNvSpPr/>
          <p:nvPr/>
        </p:nvSpPr>
        <p:spPr>
          <a:xfrm>
            <a:off x="4407408" y="1561684"/>
            <a:ext cx="384048" cy="384048"/>
          </a:xfrm>
          <a:prstGeom prst="ellipse">
            <a:avLst/>
          </a:prstGeom>
          <a:solidFill>
            <a:srgbClr val="7EC8E3"/>
          </a:solidFill>
          <a:ln w="12700" cap="flat" cmpd="sng">
            <a:solidFill>
              <a:srgbClr val="7EC8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5"/>
          <p:cNvSpPr/>
          <p:nvPr/>
        </p:nvSpPr>
        <p:spPr>
          <a:xfrm>
            <a:off x="4407408" y="1481065"/>
            <a:ext cx="384048" cy="53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1A"/>
              </a:buClr>
              <a:buSzPts val="1400"/>
              <a:buFont typeface="Georgia"/>
              <a:buNone/>
            </a:pPr>
            <a:r>
              <a:rPr lang="fr" sz="1400" b="1">
                <a:solidFill>
                  <a:srgbClr val="1A2E1A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1" name="Google Shape;311;p35"/>
          <p:cNvSpPr/>
          <p:nvPr/>
        </p:nvSpPr>
        <p:spPr>
          <a:xfrm>
            <a:off x="4892040" y="1525667"/>
            <a:ext cx="37673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200"/>
              <a:buFont typeface="Georgia"/>
              <a:buNone/>
            </a:pPr>
            <a:r>
              <a:rPr lang="fr" sz="1200" b="1">
                <a:solidFill>
                  <a:srgbClr val="7EC8E3"/>
                </a:solidFill>
                <a:latin typeface="Georgia"/>
                <a:ea typeface="Georgia"/>
                <a:cs typeface="Georgia"/>
                <a:sym typeface="Georgia"/>
              </a:rPr>
              <a:t>Que se passe-t-il EN PREMIER ?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2" name="Google Shape;312;p35"/>
          <p:cNvSpPr/>
          <p:nvPr/>
        </p:nvSpPr>
        <p:spPr>
          <a:xfrm>
            <a:off x="4937760" y="1773936"/>
            <a:ext cx="37216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900"/>
              <a:buFont typeface="Courier New"/>
              <a:buNone/>
            </a:pPr>
            <a:r>
              <a:rPr lang="fr" sz="900" i="1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i = 2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3" name="Google Shape;313;p35"/>
          <p:cNvSpPr/>
          <p:nvPr/>
        </p:nvSpPr>
        <p:spPr>
          <a:xfrm>
            <a:off x="4300706" y="2317018"/>
            <a:ext cx="4480560" cy="932391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rgbClr val="6FCF7F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"/>
          <p:cNvSpPr/>
          <p:nvPr/>
        </p:nvSpPr>
        <p:spPr>
          <a:xfrm>
            <a:off x="4407408" y="2527231"/>
            <a:ext cx="384048" cy="384048"/>
          </a:xfrm>
          <a:prstGeom prst="ellipse">
            <a:avLst/>
          </a:prstGeom>
          <a:solidFill>
            <a:srgbClr val="6FCF7F"/>
          </a:solidFill>
          <a:ln w="12700" cap="flat" cmpd="sng">
            <a:solidFill>
              <a:srgbClr val="6FC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5"/>
          <p:cNvSpPr/>
          <p:nvPr/>
        </p:nvSpPr>
        <p:spPr>
          <a:xfrm>
            <a:off x="4407408" y="2317018"/>
            <a:ext cx="384048" cy="73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1A"/>
              </a:buClr>
              <a:buSzPts val="1400"/>
              <a:buFont typeface="Georgia"/>
              <a:buNone/>
            </a:pPr>
            <a:r>
              <a:rPr lang="fr" sz="1400" b="1">
                <a:solidFill>
                  <a:srgbClr val="1A2E1A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6" name="Google Shape;316;p35"/>
          <p:cNvSpPr/>
          <p:nvPr/>
        </p:nvSpPr>
        <p:spPr>
          <a:xfrm>
            <a:off x="4892040" y="2560320"/>
            <a:ext cx="37673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CF7F"/>
              </a:buClr>
              <a:buSzPts val="1200"/>
              <a:buFont typeface="Georgia"/>
              <a:buNone/>
            </a:pPr>
            <a:r>
              <a:rPr lang="fr" sz="1200" b="1">
                <a:solidFill>
                  <a:srgbClr val="6FCF7F"/>
                </a:solidFill>
                <a:latin typeface="Georgia"/>
                <a:ea typeface="Georgia"/>
                <a:cs typeface="Georgia"/>
                <a:sym typeface="Georgia"/>
              </a:rPr>
              <a:t>Quelle valeur est lue ensuite ?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7" name="Google Shape;317;p35"/>
          <p:cNvSpPr/>
          <p:nvPr/>
        </p:nvSpPr>
        <p:spPr>
          <a:xfrm>
            <a:off x="4937760" y="2816352"/>
            <a:ext cx="37216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CF7F"/>
              </a:buClr>
              <a:buSzPts val="900"/>
              <a:buFont typeface="Courier New"/>
              <a:buNone/>
            </a:pPr>
            <a:r>
              <a:rPr lang="fr" sz="900" i="1">
                <a:solidFill>
                  <a:srgbClr val="6FCF7F"/>
                </a:solidFill>
                <a:latin typeface="Courier New"/>
                <a:ea typeface="Courier New"/>
                <a:cs typeface="Courier New"/>
                <a:sym typeface="Courier New"/>
              </a:rPr>
              <a:t>valeur disponible après ++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CF7F"/>
              </a:buClr>
              <a:buSzPts val="900"/>
              <a:buFont typeface="Courier New"/>
              <a:buNone/>
            </a:pPr>
            <a:r>
              <a:rPr lang="fr" sz="900" i="1">
                <a:solidFill>
                  <a:srgbClr val="6FCF7F"/>
                </a:solidFill>
                <a:latin typeface="Courier New"/>
                <a:ea typeface="Courier New"/>
                <a:cs typeface="Courier New"/>
                <a:sym typeface="Courier New"/>
              </a:rPr>
              <a:t>i = 3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p35"/>
          <p:cNvSpPr/>
          <p:nvPr/>
        </p:nvSpPr>
        <p:spPr>
          <a:xfrm>
            <a:off x="4300706" y="3339763"/>
            <a:ext cx="4480560" cy="960120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5"/>
          <p:cNvSpPr/>
          <p:nvPr/>
        </p:nvSpPr>
        <p:spPr>
          <a:xfrm>
            <a:off x="4402737" y="3557806"/>
            <a:ext cx="384048" cy="384048"/>
          </a:xfrm>
          <a:prstGeom prst="ellipse">
            <a:avLst/>
          </a:prstGeom>
          <a:solidFill>
            <a:srgbClr val="F7C948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5"/>
          <p:cNvSpPr/>
          <p:nvPr/>
        </p:nvSpPr>
        <p:spPr>
          <a:xfrm>
            <a:off x="4407408" y="3340883"/>
            <a:ext cx="384048" cy="75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1A"/>
              </a:buClr>
              <a:buSzPts val="1400"/>
              <a:buFont typeface="Georgia"/>
              <a:buNone/>
            </a:pPr>
            <a:r>
              <a:rPr lang="fr" sz="1400" b="1">
                <a:solidFill>
                  <a:srgbClr val="1A2E1A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1" name="Google Shape;321;p35"/>
          <p:cNvSpPr/>
          <p:nvPr/>
        </p:nvSpPr>
        <p:spPr>
          <a:xfrm>
            <a:off x="4892040" y="3596915"/>
            <a:ext cx="37673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200"/>
              <a:buFont typeface="Georgia"/>
              <a:buNone/>
            </a:pPr>
            <a:r>
              <a:rPr lang="fr" sz="1200" b="1">
                <a:solidFill>
                  <a:srgbClr val="F7C948"/>
                </a:solidFill>
                <a:latin typeface="Georgia"/>
                <a:ea typeface="Georgia"/>
                <a:cs typeface="Georgia"/>
                <a:sym typeface="Georgia"/>
              </a:rPr>
              <a:t>Que reçoit res ?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2" name="Google Shape;322;p35"/>
          <p:cNvSpPr/>
          <p:nvPr/>
        </p:nvSpPr>
        <p:spPr>
          <a:xfrm>
            <a:off x="4937760" y="3858768"/>
            <a:ext cx="37216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900"/>
              <a:buFont typeface="Courier New"/>
              <a:buNone/>
            </a:pPr>
            <a:r>
              <a:rPr lang="fr" sz="900" i="1">
                <a:solidFill>
                  <a:srgbClr val="F7C948"/>
                </a:solidFill>
                <a:latin typeface="Courier New"/>
                <a:ea typeface="Courier New"/>
                <a:cs typeface="Courier New"/>
                <a:sym typeface="Courier New"/>
              </a:rPr>
              <a:t>res = 3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3" name="Google Shape;323;p35"/>
          <p:cNvSpPr/>
          <p:nvPr/>
        </p:nvSpPr>
        <p:spPr>
          <a:xfrm>
            <a:off x="365760" y="4462009"/>
            <a:ext cx="8412480" cy="566928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5"/>
          <p:cNvSpPr/>
          <p:nvPr/>
        </p:nvSpPr>
        <p:spPr>
          <a:xfrm>
            <a:off x="548639" y="4434840"/>
            <a:ext cx="8009881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Georgia"/>
              <a:buNone/>
            </a:pPr>
            <a:r>
              <a:rPr lang="fr" sz="1300" b="1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Règle  ++i : </a:t>
            </a:r>
            <a:r>
              <a:rPr lang="fr" sz="1300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on incremente d’abord</a:t>
            </a:r>
            <a:r>
              <a:rPr lang="fr" sz="1300" b="1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i </a:t>
            </a:r>
            <a:r>
              <a:rPr lang="fr" sz="1300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puis on utilise sa valeur  </a:t>
            </a:r>
            <a:endParaRPr sz="1300" dirty="0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5" name="Google Shape;325;p35"/>
          <p:cNvSpPr/>
          <p:nvPr/>
        </p:nvSpPr>
        <p:spPr>
          <a:xfrm>
            <a:off x="2240280" y="4315968"/>
            <a:ext cx="61264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</a:pP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6"/>
          <p:cNvSpPr/>
          <p:nvPr/>
        </p:nvSpPr>
        <p:spPr>
          <a:xfrm>
            <a:off x="365760" y="73152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322"/>
              </a:buClr>
              <a:buSzPts val="9000"/>
              <a:buFont typeface="Georgia"/>
              <a:buNone/>
            </a:pPr>
            <a:r>
              <a:rPr lang="fr" sz="9000" b="1" dirty="0">
                <a:solidFill>
                  <a:srgbClr val="223322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9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2" name="Google Shape;332;p36"/>
          <p:cNvSpPr/>
          <p:nvPr/>
        </p:nvSpPr>
        <p:spPr>
          <a:xfrm>
            <a:off x="365760" y="731520"/>
            <a:ext cx="109728" cy="3474720"/>
          </a:xfrm>
          <a:prstGeom prst="rect">
            <a:avLst/>
          </a:prstGeom>
          <a:solidFill>
            <a:srgbClr val="C3A0E8"/>
          </a:solidFill>
          <a:ln w="12700" cap="flat" cmpd="sng">
            <a:solidFill>
              <a:srgbClr val="C3A0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6"/>
          <p:cNvSpPr/>
          <p:nvPr/>
        </p:nvSpPr>
        <p:spPr>
          <a:xfrm>
            <a:off x="658368" y="86868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4600"/>
              <a:buFont typeface="Georgia"/>
              <a:buNone/>
            </a:pPr>
            <a:r>
              <a:rPr lang="fr" sz="4600" b="1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Algorithmes</a:t>
            </a:r>
            <a:endParaRPr sz="4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4" name="Google Shape;334;p36"/>
          <p:cNvSpPr/>
          <p:nvPr/>
        </p:nvSpPr>
        <p:spPr>
          <a:xfrm>
            <a:off x="658368" y="1664208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3A0E8"/>
              </a:buClr>
              <a:buSzPts val="3600"/>
              <a:buFont typeface="Georgia"/>
              <a:buNone/>
            </a:pPr>
            <a:r>
              <a:rPr lang="fr" sz="3600">
                <a:solidFill>
                  <a:srgbClr val="C3A0E8"/>
                </a:solidFill>
                <a:latin typeface="Georgia"/>
                <a:ea typeface="Georgia"/>
                <a:cs typeface="Georgia"/>
                <a:sym typeface="Georgia"/>
              </a:rPr>
              <a:t>de Tri</a:t>
            </a:r>
            <a:endParaRPr sz="3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5" name="Google Shape;335;p36"/>
          <p:cNvSpPr/>
          <p:nvPr/>
        </p:nvSpPr>
        <p:spPr>
          <a:xfrm>
            <a:off x="658368" y="3099816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500"/>
              <a:buFont typeface="Calibri"/>
              <a:buNone/>
            </a:pPr>
            <a:r>
              <a:rPr lang="fr" sz="1500" i="1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Sélection  ·  Bulles  ·  Insertion</a:t>
            </a:r>
            <a:endParaRPr sz="15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8" name="Google Shape;338;p3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A0E8"/>
          </a:solidFill>
          <a:ln w="12700" cap="flat" cmpd="sng">
            <a:solidFill>
              <a:srgbClr val="C3A0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C948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7"/>
          <p:cNvSpPr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600"/>
              <a:buFont typeface="Georgia"/>
              <a:buNone/>
            </a:pPr>
            <a:r>
              <a:rPr lang="fr" sz="2600" b="1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Tri par sélection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6" name="Google Shape;346;p37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7"/>
          <p:cNvSpPr/>
          <p:nvPr/>
        </p:nvSpPr>
        <p:spPr>
          <a:xfrm>
            <a:off x="502920" y="1152144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Principe : </a:t>
            </a:r>
            <a:r>
              <a:rPr lang="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fr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cherche le plus petit élément</a:t>
            </a:r>
            <a:r>
              <a:rPr lang="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et on le place au début du tableau. Puis on recommence avec le reste du tableau.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8" name="Google Shape;348;p37"/>
          <p:cNvSpPr/>
          <p:nvPr/>
        </p:nvSpPr>
        <p:spPr>
          <a:xfrm>
            <a:off x="365760" y="157276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Tableau initial 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9" name="Google Shape;349;p37"/>
          <p:cNvSpPr/>
          <p:nvPr/>
        </p:nvSpPr>
        <p:spPr>
          <a:xfrm>
            <a:off x="365760" y="1847088"/>
            <a:ext cx="713232" cy="54864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7"/>
          <p:cNvSpPr/>
          <p:nvPr/>
        </p:nvSpPr>
        <p:spPr>
          <a:xfrm>
            <a:off x="365760" y="1847088"/>
            <a:ext cx="7132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1A"/>
              </a:buClr>
              <a:buSzPts val="1800"/>
              <a:buFont typeface="Georgia"/>
              <a:buNone/>
            </a:pPr>
            <a:r>
              <a:rPr lang="fr" sz="1800">
                <a:solidFill>
                  <a:srgbClr val="1A2E1A"/>
                </a:solidFill>
                <a:latin typeface="Georgia"/>
                <a:ea typeface="Georgia"/>
                <a:cs typeface="Georgia"/>
                <a:sym typeface="Georgia"/>
              </a:rPr>
              <a:t>64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1" name="Google Shape;351;p37"/>
          <p:cNvSpPr/>
          <p:nvPr/>
        </p:nvSpPr>
        <p:spPr>
          <a:xfrm>
            <a:off x="1143000" y="1847088"/>
            <a:ext cx="713232" cy="548640"/>
          </a:xfrm>
          <a:prstGeom prst="rect">
            <a:avLst/>
          </a:prstGeom>
          <a:solidFill>
            <a:srgbClr val="7EC8E3"/>
          </a:solidFill>
          <a:ln w="12700" cap="flat" cmpd="sng">
            <a:solidFill>
              <a:srgbClr val="7EC8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37"/>
          <p:cNvSpPr/>
          <p:nvPr/>
        </p:nvSpPr>
        <p:spPr>
          <a:xfrm>
            <a:off x="1143000" y="1847088"/>
            <a:ext cx="713232" cy="54864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1A"/>
              </a:buClr>
              <a:buSzPts val="1800"/>
              <a:buFont typeface="Georgia"/>
              <a:buNone/>
            </a:pPr>
            <a:r>
              <a:rPr lang="fr" sz="1800">
                <a:solidFill>
                  <a:srgbClr val="1A2E1A"/>
                </a:solidFill>
                <a:latin typeface="Georgia"/>
                <a:ea typeface="Georgia"/>
                <a:cs typeface="Georgia"/>
                <a:sym typeface="Georgia"/>
              </a:rPr>
              <a:t>25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3" name="Google Shape;353;p37"/>
          <p:cNvSpPr/>
          <p:nvPr/>
        </p:nvSpPr>
        <p:spPr>
          <a:xfrm>
            <a:off x="1920240" y="1847088"/>
            <a:ext cx="713232" cy="54864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rgbClr val="C3A0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7"/>
          <p:cNvSpPr/>
          <p:nvPr/>
        </p:nvSpPr>
        <p:spPr>
          <a:xfrm>
            <a:off x="1920240" y="1847088"/>
            <a:ext cx="7132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1A"/>
              </a:buClr>
              <a:buSzPts val="1800"/>
              <a:buFont typeface="Georgia"/>
              <a:buNone/>
            </a:pPr>
            <a:r>
              <a:rPr lang="fr" sz="1800">
                <a:solidFill>
                  <a:srgbClr val="1A2E1A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5" name="Google Shape;355;p37"/>
          <p:cNvSpPr/>
          <p:nvPr/>
        </p:nvSpPr>
        <p:spPr>
          <a:xfrm>
            <a:off x="2697480" y="1847088"/>
            <a:ext cx="713232" cy="548640"/>
          </a:xfrm>
          <a:prstGeom prst="rect">
            <a:avLst/>
          </a:prstGeom>
          <a:solidFill>
            <a:srgbClr val="F7C948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7"/>
          <p:cNvSpPr/>
          <p:nvPr/>
        </p:nvSpPr>
        <p:spPr>
          <a:xfrm>
            <a:off x="2697480" y="1847088"/>
            <a:ext cx="713232" cy="54864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1A"/>
              </a:buClr>
              <a:buSzPts val="1800"/>
              <a:buFont typeface="Georgia"/>
              <a:buNone/>
            </a:pPr>
            <a:r>
              <a:rPr lang="fr" sz="1800">
                <a:solidFill>
                  <a:srgbClr val="1A2E1A"/>
                </a:solidFill>
                <a:latin typeface="Georgia"/>
                <a:ea typeface="Georgia"/>
                <a:cs typeface="Georgia"/>
                <a:sym typeface="Georgia"/>
              </a:rPr>
              <a:t>22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7" name="Google Shape;357;p37"/>
          <p:cNvSpPr/>
          <p:nvPr/>
        </p:nvSpPr>
        <p:spPr>
          <a:xfrm>
            <a:off x="3474720" y="1847088"/>
            <a:ext cx="713232" cy="54864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rgbClr val="6FC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7"/>
          <p:cNvSpPr/>
          <p:nvPr/>
        </p:nvSpPr>
        <p:spPr>
          <a:xfrm>
            <a:off x="3474720" y="1847088"/>
            <a:ext cx="7132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1A"/>
              </a:buClr>
              <a:buSzPts val="1800"/>
              <a:buFont typeface="Georgia"/>
              <a:buNone/>
            </a:pPr>
            <a:r>
              <a:rPr lang="fr" sz="1800">
                <a:solidFill>
                  <a:srgbClr val="1A2E1A"/>
                </a:solidFill>
                <a:latin typeface="Georgia"/>
                <a:ea typeface="Georgia"/>
                <a:cs typeface="Georgia"/>
                <a:sym typeface="Georgia"/>
              </a:rPr>
              <a:t>11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9" name="Google Shape;359;p37"/>
          <p:cNvSpPr/>
          <p:nvPr/>
        </p:nvSpPr>
        <p:spPr>
          <a:xfrm>
            <a:off x="4709160" y="1568393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Pseudo-code 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0" name="Google Shape;360;p37"/>
          <p:cNvSpPr/>
          <p:nvPr/>
        </p:nvSpPr>
        <p:spPr>
          <a:xfrm>
            <a:off x="4613148" y="1911227"/>
            <a:ext cx="4069080" cy="3067751"/>
          </a:xfrm>
          <a:prstGeom prst="rect">
            <a:avLst/>
          </a:prstGeom>
          <a:solidFill>
            <a:srgbClr val="0D1F0D"/>
          </a:solidFill>
          <a:ln w="9525" cap="flat" cmpd="sng">
            <a:solidFill>
              <a:srgbClr val="9B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7"/>
          <p:cNvSpPr/>
          <p:nvPr/>
        </p:nvSpPr>
        <p:spPr>
          <a:xfrm>
            <a:off x="4709160" y="3118104"/>
            <a:ext cx="3977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entury Gothic"/>
              <a:buNone/>
            </a:pP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2" name="Google Shape;362;p37"/>
          <p:cNvSpPr/>
          <p:nvPr/>
        </p:nvSpPr>
        <p:spPr>
          <a:xfrm>
            <a:off x="4663380" y="2249588"/>
            <a:ext cx="4069200" cy="239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POUR i allant de 0 a n-2 :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Min = i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POUR j allant de i+1 a n-1 :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  SI tab[j] &lt; tab[Min] alors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    Min = j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  FIN SI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FIN POUR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lvl="0">
              <a:buClr>
                <a:srgbClr val="E2F0FF"/>
              </a:buClr>
              <a:buSzPts val="1300"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SI Min </a:t>
            </a:r>
            <a:r>
              <a:rPr lang="fr-FR" sz="1200" dirty="0">
                <a:solidFill>
                  <a:schemeClr val="bg1"/>
                </a:solidFill>
              </a:rPr>
              <a:t>≠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i //echange tab[i] et tab[min]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temp </a:t>
            </a: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= tab[i]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tab[i</a:t>
            </a: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] = tab[Min]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tab[Min</a:t>
            </a: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temp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FIN SI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FIN POUR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3" name="Google Shape;363;p37"/>
          <p:cNvSpPr/>
          <p:nvPr/>
        </p:nvSpPr>
        <p:spPr>
          <a:xfrm>
            <a:off x="365760" y="2606040"/>
            <a:ext cx="3822192" cy="34747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D0DF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7"/>
          <p:cNvSpPr/>
          <p:nvPr/>
        </p:nvSpPr>
        <p:spPr>
          <a:xfrm>
            <a:off x="502920" y="260604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fr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1-  Trouver le minimum dans [64,25,12,22,</a:t>
            </a:r>
            <a:r>
              <a:rPr lang="fr" sz="115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fr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] → 11 </a:t>
            </a:r>
            <a:r>
              <a:rPr lang="fr" sz="115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(indice 4)</a:t>
            </a:r>
            <a:endParaRPr sz="1150">
              <a:solidFill>
                <a:srgbClr val="00B05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5" name="Google Shape;365;p37"/>
          <p:cNvSpPr/>
          <p:nvPr/>
        </p:nvSpPr>
        <p:spPr>
          <a:xfrm>
            <a:off x="365760" y="3008376"/>
            <a:ext cx="3822192" cy="34747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D0DF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7"/>
          <p:cNvSpPr/>
          <p:nvPr/>
        </p:nvSpPr>
        <p:spPr>
          <a:xfrm>
            <a:off x="502920" y="300837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fr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2-  Échanger 11 et 64  →  [11, 25, 12, 22, 64]</a:t>
            </a:r>
            <a:endParaRPr sz="11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7" name="Google Shape;367;p37"/>
          <p:cNvSpPr/>
          <p:nvPr/>
        </p:nvSpPr>
        <p:spPr>
          <a:xfrm>
            <a:off x="365760" y="3410712"/>
            <a:ext cx="3822192" cy="34747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D0DF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7"/>
          <p:cNvSpPr/>
          <p:nvPr/>
        </p:nvSpPr>
        <p:spPr>
          <a:xfrm>
            <a:off x="502920" y="3410712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fr" sz="115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3-  Trouver le min dans </a:t>
            </a:r>
            <a:r>
              <a:rPr lang="fr" sz="115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[25,</a:t>
            </a:r>
            <a:r>
              <a:rPr lang="fr" sz="1150" dirty="0" smtClean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fr" sz="115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,22,64</a:t>
            </a:r>
            <a:r>
              <a:rPr lang="fr" sz="115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] → 12 </a:t>
            </a:r>
            <a:r>
              <a:rPr lang="fr" sz="115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(indice 2)</a:t>
            </a:r>
            <a:endParaRPr sz="1150" dirty="0">
              <a:solidFill>
                <a:srgbClr val="00B05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9" name="Google Shape;369;p37"/>
          <p:cNvSpPr/>
          <p:nvPr/>
        </p:nvSpPr>
        <p:spPr>
          <a:xfrm>
            <a:off x="365760" y="3813048"/>
            <a:ext cx="3822192" cy="34747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D0DF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7"/>
          <p:cNvSpPr/>
          <p:nvPr/>
        </p:nvSpPr>
        <p:spPr>
          <a:xfrm>
            <a:off x="502920" y="381304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fr" sz="115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4-  Échanger 12 et 25  →  [11, 12, 25, 22, 64]</a:t>
            </a:r>
            <a:endParaRPr sz="115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1" name="Google Shape;371;p37"/>
          <p:cNvSpPr/>
          <p:nvPr/>
        </p:nvSpPr>
        <p:spPr>
          <a:xfrm>
            <a:off x="365760" y="4631506"/>
            <a:ext cx="3822192" cy="34747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D0DF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7"/>
          <p:cNvSpPr/>
          <p:nvPr/>
        </p:nvSpPr>
        <p:spPr>
          <a:xfrm>
            <a:off x="502920" y="4607952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fr" sz="115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" sz="115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Continuer jusqu'à tri complet  →  [11, 12, 22, 25, 64]</a:t>
            </a:r>
            <a:endParaRPr sz="115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" name="Google Shape;369;p37"/>
          <p:cNvSpPr/>
          <p:nvPr/>
        </p:nvSpPr>
        <p:spPr>
          <a:xfrm>
            <a:off x="365760" y="4215453"/>
            <a:ext cx="3822192" cy="34747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D0DF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70;p37"/>
          <p:cNvSpPr/>
          <p:nvPr/>
        </p:nvSpPr>
        <p:spPr>
          <a:xfrm>
            <a:off x="502920" y="4229101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fr" sz="115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fr" sz="115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 Trouver le min dans   →  [25, </a:t>
            </a:r>
            <a:r>
              <a:rPr lang="fr" sz="1150" dirty="0" smtClean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r>
              <a:rPr lang="fr" sz="115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64]</a:t>
            </a:r>
            <a:endParaRPr sz="115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C948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8"/>
          <p:cNvSpPr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600"/>
              <a:buFont typeface="Georgia"/>
              <a:buNone/>
            </a:pPr>
            <a:r>
              <a:rPr lang="fr" sz="2600" b="1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Tri à bulles  (Bubble Sort)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0" name="Google Shape;380;p38"/>
          <p:cNvSpPr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1" name="Google Shape;381;p38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8"/>
          <p:cNvSpPr/>
          <p:nvPr/>
        </p:nvSpPr>
        <p:spPr>
          <a:xfrm>
            <a:off x="502920" y="107899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Principe : </a:t>
            </a:r>
            <a:r>
              <a:rPr lang="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compare </a:t>
            </a:r>
            <a:r>
              <a:rPr lang="fr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deux éléments voisins</a:t>
            </a:r>
            <a:r>
              <a:rPr lang="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et on les échange si ils sont mal ordonnés.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8"/>
          <p:cNvSpPr/>
          <p:nvPr/>
        </p:nvSpPr>
        <p:spPr>
          <a:xfrm>
            <a:off x="5303520" y="1883664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</a:pP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5" name="Google Shape;385;p38"/>
          <p:cNvSpPr/>
          <p:nvPr/>
        </p:nvSpPr>
        <p:spPr>
          <a:xfrm>
            <a:off x="5303520" y="2395728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</a:pP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6" name="Google Shape;386;p38"/>
          <p:cNvSpPr/>
          <p:nvPr/>
        </p:nvSpPr>
        <p:spPr>
          <a:xfrm>
            <a:off x="5303520" y="2907792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</a:pP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7" name="Google Shape;387;p38"/>
          <p:cNvSpPr/>
          <p:nvPr/>
        </p:nvSpPr>
        <p:spPr>
          <a:xfrm>
            <a:off x="5303520" y="3419856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</a:pP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8" name="Google Shape;388;p38"/>
          <p:cNvSpPr/>
          <p:nvPr/>
        </p:nvSpPr>
        <p:spPr>
          <a:xfrm>
            <a:off x="4801382" y="1693975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endParaRPr lang="fr" sz="1100" i="1" dirty="0" smtClean="0">
              <a:solidFill>
                <a:srgbClr val="9BBF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i="1" dirty="0" smtClean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Pseudo-code </a:t>
            </a:r>
            <a:r>
              <a:rPr lang="fr" sz="1100" i="1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9" name="Google Shape;389;p38"/>
          <p:cNvSpPr/>
          <p:nvPr/>
        </p:nvSpPr>
        <p:spPr>
          <a:xfrm>
            <a:off x="4810468" y="2116737"/>
            <a:ext cx="3922052" cy="2782923"/>
          </a:xfrm>
          <a:prstGeom prst="rect">
            <a:avLst/>
          </a:prstGeom>
          <a:solidFill>
            <a:srgbClr val="0D1F0D"/>
          </a:solidFill>
          <a:ln w="9525" cap="flat" cmpd="sng">
            <a:solidFill>
              <a:srgbClr val="9B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POUR i allant de 0 a n-2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POUR j allant de 0 À n-i-2 :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  SI tab[j] &gt; tab[j+1]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ALORS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    temp  = tab[j]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	 tab[j] = tab[j+1]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	 tab[j+1] =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temp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 FIN </a:t>
            </a: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SI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FIN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POUR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FIN POUR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0" name="Google Shape;390;p38"/>
          <p:cNvSpPr/>
          <p:nvPr/>
        </p:nvSpPr>
        <p:spPr>
          <a:xfrm>
            <a:off x="365760" y="248716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Étape 2 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1" name="Google Shape;391;p38"/>
          <p:cNvSpPr/>
          <p:nvPr/>
        </p:nvSpPr>
        <p:spPr>
          <a:xfrm>
            <a:off x="1188720" y="2532888"/>
            <a:ext cx="566928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FD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38"/>
          <p:cNvSpPr/>
          <p:nvPr/>
        </p:nvSpPr>
        <p:spPr>
          <a:xfrm>
            <a:off x="1188720" y="2532888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3" name="Google Shape;393;p38"/>
          <p:cNvSpPr/>
          <p:nvPr/>
        </p:nvSpPr>
        <p:spPr>
          <a:xfrm>
            <a:off x="1828800" y="2532888"/>
            <a:ext cx="566928" cy="402336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8"/>
          <p:cNvSpPr/>
          <p:nvPr/>
        </p:nvSpPr>
        <p:spPr>
          <a:xfrm>
            <a:off x="1828800" y="2532888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fr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5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5" name="Google Shape;395;p38"/>
          <p:cNvSpPr/>
          <p:nvPr/>
        </p:nvSpPr>
        <p:spPr>
          <a:xfrm>
            <a:off x="2468880" y="2532888"/>
            <a:ext cx="566928" cy="402336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8"/>
          <p:cNvSpPr/>
          <p:nvPr/>
        </p:nvSpPr>
        <p:spPr>
          <a:xfrm>
            <a:off x="2468880" y="2532888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fr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7" name="Google Shape;397;p38"/>
          <p:cNvSpPr/>
          <p:nvPr/>
        </p:nvSpPr>
        <p:spPr>
          <a:xfrm>
            <a:off x="3094191" y="2532888"/>
            <a:ext cx="566928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FD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38"/>
          <p:cNvSpPr/>
          <p:nvPr/>
        </p:nvSpPr>
        <p:spPr>
          <a:xfrm>
            <a:off x="3108960" y="2532888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9" name="Google Shape;399;p38"/>
          <p:cNvSpPr/>
          <p:nvPr/>
        </p:nvSpPr>
        <p:spPr>
          <a:xfrm>
            <a:off x="3749040" y="2532888"/>
            <a:ext cx="566928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FD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8"/>
          <p:cNvSpPr/>
          <p:nvPr/>
        </p:nvSpPr>
        <p:spPr>
          <a:xfrm>
            <a:off x="3749040" y="2532888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1" name="Google Shape;401;p38"/>
          <p:cNvSpPr/>
          <p:nvPr/>
        </p:nvSpPr>
        <p:spPr>
          <a:xfrm>
            <a:off x="2234293" y="2256213"/>
            <a:ext cx="59998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Calibri"/>
              <a:buNone/>
            </a:pPr>
            <a:r>
              <a:rPr lang="fr" sz="1400" dirty="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" sz="1400" dirty="0" smtClean="0">
                <a:solidFill>
                  <a:srgbClr val="EA580C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</a:t>
            </a:r>
            <a:r>
              <a:rPr lang="fr" sz="1400" dirty="0" smtClean="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2" name="Google Shape;402;p38"/>
          <p:cNvSpPr/>
          <p:nvPr/>
        </p:nvSpPr>
        <p:spPr>
          <a:xfrm>
            <a:off x="365760" y="305409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Étape 3 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3" name="Google Shape;403;p38"/>
          <p:cNvSpPr/>
          <p:nvPr/>
        </p:nvSpPr>
        <p:spPr>
          <a:xfrm>
            <a:off x="1188720" y="3099816"/>
            <a:ext cx="566928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FD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38"/>
          <p:cNvSpPr/>
          <p:nvPr/>
        </p:nvSpPr>
        <p:spPr>
          <a:xfrm>
            <a:off x="1188720" y="3099816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5" name="Google Shape;405;p38"/>
          <p:cNvSpPr/>
          <p:nvPr/>
        </p:nvSpPr>
        <p:spPr>
          <a:xfrm>
            <a:off x="1828800" y="3099816"/>
            <a:ext cx="566928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FD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8"/>
          <p:cNvSpPr/>
          <p:nvPr/>
        </p:nvSpPr>
        <p:spPr>
          <a:xfrm>
            <a:off x="1828800" y="3099816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7" name="Google Shape;407;p38"/>
          <p:cNvSpPr/>
          <p:nvPr/>
        </p:nvSpPr>
        <p:spPr>
          <a:xfrm>
            <a:off x="2468880" y="3099816"/>
            <a:ext cx="566928" cy="402336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8"/>
          <p:cNvSpPr/>
          <p:nvPr/>
        </p:nvSpPr>
        <p:spPr>
          <a:xfrm>
            <a:off x="2468880" y="3099816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fr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9" name="Google Shape;409;p38"/>
          <p:cNvSpPr/>
          <p:nvPr/>
        </p:nvSpPr>
        <p:spPr>
          <a:xfrm>
            <a:off x="3108960" y="3099816"/>
            <a:ext cx="566928" cy="402336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8"/>
          <p:cNvSpPr/>
          <p:nvPr/>
        </p:nvSpPr>
        <p:spPr>
          <a:xfrm>
            <a:off x="3108960" y="3099816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fr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1" name="Google Shape;411;p38"/>
          <p:cNvSpPr/>
          <p:nvPr/>
        </p:nvSpPr>
        <p:spPr>
          <a:xfrm>
            <a:off x="3749040" y="3099816"/>
            <a:ext cx="566928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FD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8"/>
          <p:cNvSpPr/>
          <p:nvPr/>
        </p:nvSpPr>
        <p:spPr>
          <a:xfrm>
            <a:off x="3749040" y="3099816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3" name="Google Shape;413;p38"/>
          <p:cNvSpPr/>
          <p:nvPr/>
        </p:nvSpPr>
        <p:spPr>
          <a:xfrm>
            <a:off x="2962655" y="2816352"/>
            <a:ext cx="116043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</a:pP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4" name="Google Shape;414;p38"/>
          <p:cNvSpPr/>
          <p:nvPr/>
        </p:nvSpPr>
        <p:spPr>
          <a:xfrm>
            <a:off x="365760" y="3621024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Étape 4 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5" name="Google Shape;415;p38"/>
          <p:cNvSpPr/>
          <p:nvPr/>
        </p:nvSpPr>
        <p:spPr>
          <a:xfrm>
            <a:off x="1188720" y="3666744"/>
            <a:ext cx="566928" cy="402336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38"/>
          <p:cNvSpPr/>
          <p:nvPr/>
        </p:nvSpPr>
        <p:spPr>
          <a:xfrm>
            <a:off x="1188720" y="3666744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fr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7" name="Google Shape;417;p38"/>
          <p:cNvSpPr/>
          <p:nvPr/>
        </p:nvSpPr>
        <p:spPr>
          <a:xfrm>
            <a:off x="1828800" y="3666744"/>
            <a:ext cx="566928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FD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38"/>
          <p:cNvSpPr/>
          <p:nvPr/>
        </p:nvSpPr>
        <p:spPr>
          <a:xfrm>
            <a:off x="1828800" y="3666744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9" name="Google Shape;419;p38"/>
          <p:cNvSpPr/>
          <p:nvPr/>
        </p:nvSpPr>
        <p:spPr>
          <a:xfrm>
            <a:off x="2468880" y="3666744"/>
            <a:ext cx="566928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FD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38"/>
          <p:cNvSpPr/>
          <p:nvPr/>
        </p:nvSpPr>
        <p:spPr>
          <a:xfrm>
            <a:off x="2468880" y="3666744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1" name="Google Shape;421;p38"/>
          <p:cNvSpPr/>
          <p:nvPr/>
        </p:nvSpPr>
        <p:spPr>
          <a:xfrm>
            <a:off x="3108960" y="3666744"/>
            <a:ext cx="566928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FD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38"/>
          <p:cNvSpPr/>
          <p:nvPr/>
        </p:nvSpPr>
        <p:spPr>
          <a:xfrm>
            <a:off x="3108960" y="3666744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3" name="Google Shape;423;p38"/>
          <p:cNvSpPr/>
          <p:nvPr/>
        </p:nvSpPr>
        <p:spPr>
          <a:xfrm>
            <a:off x="3749040" y="3666744"/>
            <a:ext cx="566928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FD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8"/>
          <p:cNvSpPr/>
          <p:nvPr/>
        </p:nvSpPr>
        <p:spPr>
          <a:xfrm>
            <a:off x="3749040" y="3666744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5" name="Google Shape;425;p38"/>
          <p:cNvSpPr/>
          <p:nvPr/>
        </p:nvSpPr>
        <p:spPr>
          <a:xfrm>
            <a:off x="365760" y="418795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Étape 5 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6" name="Google Shape;426;p38"/>
          <p:cNvSpPr/>
          <p:nvPr/>
        </p:nvSpPr>
        <p:spPr>
          <a:xfrm>
            <a:off x="1188720" y="4233672"/>
            <a:ext cx="566928" cy="402336"/>
          </a:xfrm>
          <a:prstGeom prst="rect">
            <a:avLst/>
          </a:prstGeom>
          <a:solidFill>
            <a:srgbClr val="EA580C"/>
          </a:solidFill>
          <a:ln w="127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8"/>
          <p:cNvSpPr/>
          <p:nvPr/>
        </p:nvSpPr>
        <p:spPr>
          <a:xfrm>
            <a:off x="1188720" y="4233672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fr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1828800" y="4233672"/>
            <a:ext cx="566928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FD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8"/>
          <p:cNvSpPr/>
          <p:nvPr/>
        </p:nvSpPr>
        <p:spPr>
          <a:xfrm>
            <a:off x="1828800" y="4233672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0" name="Google Shape;430;p38"/>
          <p:cNvSpPr/>
          <p:nvPr/>
        </p:nvSpPr>
        <p:spPr>
          <a:xfrm>
            <a:off x="2468880" y="4233672"/>
            <a:ext cx="566928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FD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8"/>
          <p:cNvSpPr/>
          <p:nvPr/>
        </p:nvSpPr>
        <p:spPr>
          <a:xfrm>
            <a:off x="2468880" y="4233672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2" name="Google Shape;432;p38"/>
          <p:cNvSpPr/>
          <p:nvPr/>
        </p:nvSpPr>
        <p:spPr>
          <a:xfrm>
            <a:off x="3108960" y="4233672"/>
            <a:ext cx="566928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FD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8"/>
          <p:cNvSpPr/>
          <p:nvPr/>
        </p:nvSpPr>
        <p:spPr>
          <a:xfrm>
            <a:off x="3108960" y="4233672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4" name="Google Shape;434;p38"/>
          <p:cNvSpPr/>
          <p:nvPr/>
        </p:nvSpPr>
        <p:spPr>
          <a:xfrm>
            <a:off x="3749040" y="4233672"/>
            <a:ext cx="566928" cy="40233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FD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8"/>
          <p:cNvSpPr/>
          <p:nvPr/>
        </p:nvSpPr>
        <p:spPr>
          <a:xfrm>
            <a:off x="3749040" y="4233672"/>
            <a:ext cx="5669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6" name="Google Shape;436;p38"/>
          <p:cNvSpPr/>
          <p:nvPr/>
        </p:nvSpPr>
        <p:spPr>
          <a:xfrm>
            <a:off x="2864454" y="2842797"/>
            <a:ext cx="59998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Calibri"/>
              <a:buNone/>
            </a:pPr>
            <a:r>
              <a:rPr lang="fr" dirty="0" smtClean="0">
                <a:solidFill>
                  <a:srgbClr val="EA580C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</a:t>
            </a:r>
            <a:r>
              <a:rPr lang="fr" sz="1400" dirty="0" smtClean="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" name="Text 5"/>
          <p:cNvSpPr/>
          <p:nvPr/>
        </p:nvSpPr>
        <p:spPr>
          <a:xfrm>
            <a:off x="36576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:</a:t>
            </a:r>
            <a:endParaRPr lang="en-US" sz="1100" dirty="0"/>
          </a:p>
        </p:txBody>
      </p:sp>
      <p:sp>
        <p:nvSpPr>
          <p:cNvPr id="62" name="Shape 6"/>
          <p:cNvSpPr/>
          <p:nvPr/>
        </p:nvSpPr>
        <p:spPr>
          <a:xfrm>
            <a:off x="1188720" y="1965960"/>
            <a:ext cx="566928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3" name="Text 7"/>
          <p:cNvSpPr/>
          <p:nvPr/>
        </p:nvSpPr>
        <p:spPr>
          <a:xfrm>
            <a:off x="1188720" y="196596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64" name="Shape 8"/>
          <p:cNvSpPr/>
          <p:nvPr/>
        </p:nvSpPr>
        <p:spPr>
          <a:xfrm>
            <a:off x="1828800" y="1965960"/>
            <a:ext cx="566928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5" name="Text 9"/>
          <p:cNvSpPr/>
          <p:nvPr/>
        </p:nvSpPr>
        <p:spPr>
          <a:xfrm>
            <a:off x="1828800" y="196596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66" name="Shape 10"/>
          <p:cNvSpPr/>
          <p:nvPr/>
        </p:nvSpPr>
        <p:spPr>
          <a:xfrm>
            <a:off x="2468880" y="1965960"/>
            <a:ext cx="5669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0F0"/>
            </a:solidFill>
            <a:prstDash val="solid"/>
          </a:ln>
        </p:spPr>
      </p:sp>
      <p:sp>
        <p:nvSpPr>
          <p:cNvPr id="67" name="Text 11"/>
          <p:cNvSpPr/>
          <p:nvPr/>
        </p:nvSpPr>
        <p:spPr>
          <a:xfrm>
            <a:off x="2468880" y="196596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68" name="Shape 12"/>
          <p:cNvSpPr/>
          <p:nvPr/>
        </p:nvSpPr>
        <p:spPr>
          <a:xfrm>
            <a:off x="3108960" y="1965960"/>
            <a:ext cx="5669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0F0"/>
            </a:solidFill>
            <a:prstDash val="solid"/>
          </a:ln>
        </p:spPr>
      </p:sp>
      <p:sp>
        <p:nvSpPr>
          <p:cNvPr id="69" name="Text 13"/>
          <p:cNvSpPr/>
          <p:nvPr/>
        </p:nvSpPr>
        <p:spPr>
          <a:xfrm>
            <a:off x="3108960" y="196596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0" name="Shape 14"/>
          <p:cNvSpPr/>
          <p:nvPr/>
        </p:nvSpPr>
        <p:spPr>
          <a:xfrm>
            <a:off x="3749040" y="1965960"/>
            <a:ext cx="5669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0F0"/>
            </a:solidFill>
            <a:prstDash val="solid"/>
          </a:ln>
        </p:spPr>
      </p:sp>
      <p:sp>
        <p:nvSpPr>
          <p:cNvPr id="71" name="Text 15"/>
          <p:cNvSpPr/>
          <p:nvPr/>
        </p:nvSpPr>
        <p:spPr>
          <a:xfrm>
            <a:off x="3749040" y="196596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72" name="Text 16"/>
          <p:cNvSpPr/>
          <p:nvPr/>
        </p:nvSpPr>
        <p:spPr>
          <a:xfrm>
            <a:off x="1755648" y="1965960"/>
            <a:ext cx="73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5" name="Google Shape;401;p38"/>
          <p:cNvSpPr/>
          <p:nvPr/>
        </p:nvSpPr>
        <p:spPr>
          <a:xfrm>
            <a:off x="1593768" y="1709928"/>
            <a:ext cx="59998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Calibri"/>
              <a:buNone/>
            </a:pPr>
            <a:r>
              <a:rPr lang="fr" sz="1400" dirty="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" sz="1400" dirty="0" smtClean="0">
                <a:solidFill>
                  <a:srgbClr val="EA580C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</a:t>
            </a:r>
            <a:r>
              <a:rPr lang="fr" sz="1400" dirty="0" smtClean="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C948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39"/>
          <p:cNvSpPr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600"/>
              <a:buFont typeface="Georgia"/>
              <a:buNone/>
            </a:pPr>
            <a:r>
              <a:rPr lang="fr" sz="2600" b="1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Tri par insertion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4" name="Google Shape;444;p39"/>
          <p:cNvSpPr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5" name="Google Shape;445;p39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solidFill>
            <a:srgbClr val="223322"/>
          </a:solidFill>
          <a:ln w="127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9"/>
          <p:cNvSpPr/>
          <p:nvPr/>
        </p:nvSpPr>
        <p:spPr>
          <a:xfrm>
            <a:off x="502920" y="1245228"/>
            <a:ext cx="8229600" cy="21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Principe : </a:t>
            </a:r>
            <a:r>
              <a:rPr lang="fr"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fr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insère chaque élément à sa bonne place</a:t>
            </a:r>
            <a:r>
              <a:rPr lang="fr"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dans la partie déjà triée. Comme quand on </a:t>
            </a:r>
            <a:r>
              <a:rPr lang="fr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range des cartes dans sa main</a:t>
            </a:r>
            <a:r>
              <a:rPr lang="fr"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7" name="Google Shape;447;p39"/>
          <p:cNvSpPr/>
          <p:nvPr/>
        </p:nvSpPr>
        <p:spPr>
          <a:xfrm>
            <a:off x="1063072" y="1585333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8" name="Google Shape;448;p39"/>
          <p:cNvSpPr/>
          <p:nvPr/>
        </p:nvSpPr>
        <p:spPr>
          <a:xfrm>
            <a:off x="5487715" y="1560203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Pseudo-code 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9" name="Google Shape;449;p39"/>
          <p:cNvSpPr/>
          <p:nvPr/>
        </p:nvSpPr>
        <p:spPr>
          <a:xfrm>
            <a:off x="5487714" y="1880978"/>
            <a:ext cx="3580085" cy="2762100"/>
          </a:xfrm>
          <a:prstGeom prst="rect">
            <a:avLst/>
          </a:prstGeom>
          <a:solidFill>
            <a:srgbClr val="0D1F0D"/>
          </a:solidFill>
          <a:ln w="9525" cap="flat" cmpd="sng">
            <a:solidFill>
              <a:srgbClr val="9B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POUR i allant de 1 À n-1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cle = tab[i]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j = i - 1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TANT QUE j &gt;= 0</a:t>
            </a:r>
            <a:r>
              <a:rPr lang="fr"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ET tab[j] &gt; cle :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  tab[j+1] = tab[j]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  j = j - 1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FIN TANT QUE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tab[j+1] =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cle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FIN POUR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0" name="Google Shape;450;p39"/>
          <p:cNvSpPr/>
          <p:nvPr/>
        </p:nvSpPr>
        <p:spPr>
          <a:xfrm>
            <a:off x="502920" y="4736592"/>
            <a:ext cx="8183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entury Gothic"/>
              <a:buNone/>
            </a:pP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1" name="Google Shape;451;p39"/>
          <p:cNvSpPr/>
          <p:nvPr/>
        </p:nvSpPr>
        <p:spPr>
          <a:xfrm>
            <a:off x="457200" y="6656832"/>
            <a:ext cx="8229600" cy="310896"/>
          </a:xfrm>
          <a:prstGeom prst="rect">
            <a:avLst/>
          </a:prstGeom>
          <a:solidFill>
            <a:srgbClr val="2A4A2A"/>
          </a:solidFill>
          <a:ln w="12700" cap="flat" cmpd="sng">
            <a:solidFill>
              <a:srgbClr val="6FCF7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39"/>
          <p:cNvSpPr/>
          <p:nvPr/>
        </p:nvSpPr>
        <p:spPr>
          <a:xfrm>
            <a:off x="502920" y="6656832"/>
            <a:ext cx="8183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460"/>
              </a:buClr>
              <a:buSzPts val="950"/>
              <a:buFont typeface="Courier New"/>
              <a:buNone/>
            </a:pPr>
            <a:r>
              <a:rPr lang="fr" sz="950" i="1">
                <a:solidFill>
                  <a:srgbClr val="F4A460"/>
                </a:solidFill>
                <a:latin typeface="Courier New"/>
                <a:ea typeface="Courier New"/>
                <a:cs typeface="Courier New"/>
                <a:sym typeface="Courier New"/>
              </a:rPr>
              <a:t>  tab[j+___] = clé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3" name="Google Shape;453;p39"/>
          <p:cNvSpPr/>
          <p:nvPr/>
        </p:nvSpPr>
        <p:spPr>
          <a:xfrm>
            <a:off x="411480" y="1786501"/>
            <a:ext cx="123970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fr" sz="1100" dirty="0" smtClean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Tableau initial </a:t>
            </a:r>
            <a:r>
              <a:rPr lang="fr" sz="11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4" name="Google Shape;454;p39"/>
          <p:cNvSpPr/>
          <p:nvPr/>
        </p:nvSpPr>
        <p:spPr>
          <a:xfrm>
            <a:off x="2047006" y="1861297"/>
            <a:ext cx="548640" cy="36576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39"/>
          <p:cNvSpPr/>
          <p:nvPr/>
        </p:nvSpPr>
        <p:spPr>
          <a:xfrm>
            <a:off x="2047006" y="1861297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 b="1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6" name="Google Shape;456;p39"/>
          <p:cNvSpPr/>
          <p:nvPr/>
        </p:nvSpPr>
        <p:spPr>
          <a:xfrm>
            <a:off x="2668798" y="1861297"/>
            <a:ext cx="548640" cy="36576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39"/>
          <p:cNvSpPr/>
          <p:nvPr/>
        </p:nvSpPr>
        <p:spPr>
          <a:xfrm>
            <a:off x="2668798" y="1861297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f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8" name="Google Shape;458;p39"/>
          <p:cNvSpPr/>
          <p:nvPr/>
        </p:nvSpPr>
        <p:spPr>
          <a:xfrm>
            <a:off x="3290590" y="1861297"/>
            <a:ext cx="548640" cy="36576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39"/>
          <p:cNvSpPr/>
          <p:nvPr/>
        </p:nvSpPr>
        <p:spPr>
          <a:xfrm>
            <a:off x="3290590" y="1861297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f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0" name="Google Shape;460;p39"/>
          <p:cNvSpPr/>
          <p:nvPr/>
        </p:nvSpPr>
        <p:spPr>
          <a:xfrm>
            <a:off x="3912382" y="1861297"/>
            <a:ext cx="548640" cy="36576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39"/>
          <p:cNvSpPr/>
          <p:nvPr/>
        </p:nvSpPr>
        <p:spPr>
          <a:xfrm>
            <a:off x="3912382" y="1861297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f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2" name="Google Shape;462;p39"/>
          <p:cNvSpPr/>
          <p:nvPr/>
        </p:nvSpPr>
        <p:spPr>
          <a:xfrm>
            <a:off x="411480" y="2335141"/>
            <a:ext cx="114102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fr" sz="11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Étape </a:t>
            </a:r>
            <a:r>
              <a:rPr lang="fr" sz="1100" dirty="0" smtClean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  </a:t>
            </a:r>
            <a:r>
              <a:rPr lang="fr" sz="11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3" name="Google Shape;463;p39"/>
          <p:cNvSpPr/>
          <p:nvPr/>
        </p:nvSpPr>
        <p:spPr>
          <a:xfrm>
            <a:off x="2047006" y="2409937"/>
            <a:ext cx="548640" cy="365760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39"/>
          <p:cNvSpPr/>
          <p:nvPr/>
        </p:nvSpPr>
        <p:spPr>
          <a:xfrm>
            <a:off x="2047006" y="2409937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 b="1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5" name="Google Shape;465;p39"/>
          <p:cNvSpPr/>
          <p:nvPr/>
        </p:nvSpPr>
        <p:spPr>
          <a:xfrm>
            <a:off x="2668798" y="2409937"/>
            <a:ext cx="548640" cy="365760"/>
          </a:xfrm>
          <a:prstGeom prst="rect">
            <a:avLst/>
          </a:prstGeom>
          <a:solidFill>
            <a:srgbClr val="EEF3FB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9"/>
          <p:cNvSpPr/>
          <p:nvPr/>
        </p:nvSpPr>
        <p:spPr>
          <a:xfrm>
            <a:off x="2668798" y="2409937"/>
            <a:ext cx="548640" cy="3657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 b="1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7" name="Google Shape;467;p39"/>
          <p:cNvSpPr/>
          <p:nvPr/>
        </p:nvSpPr>
        <p:spPr>
          <a:xfrm>
            <a:off x="3290590" y="2409937"/>
            <a:ext cx="548640" cy="36576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9"/>
          <p:cNvSpPr/>
          <p:nvPr/>
        </p:nvSpPr>
        <p:spPr>
          <a:xfrm>
            <a:off x="3290590" y="2409937"/>
            <a:ext cx="548640" cy="36576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f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5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9" name="Google Shape;469;p39"/>
          <p:cNvSpPr/>
          <p:nvPr/>
        </p:nvSpPr>
        <p:spPr>
          <a:xfrm>
            <a:off x="3912382" y="2409937"/>
            <a:ext cx="548640" cy="36576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9"/>
          <p:cNvSpPr/>
          <p:nvPr/>
        </p:nvSpPr>
        <p:spPr>
          <a:xfrm>
            <a:off x="3912382" y="2409937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f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1" name="Google Shape;471;p39"/>
          <p:cNvSpPr/>
          <p:nvPr/>
        </p:nvSpPr>
        <p:spPr>
          <a:xfrm>
            <a:off x="411480" y="2883781"/>
            <a:ext cx="114102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Étape 3  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2" name="Google Shape;472;p39"/>
          <p:cNvSpPr/>
          <p:nvPr/>
        </p:nvSpPr>
        <p:spPr>
          <a:xfrm>
            <a:off x="2047006" y="2958577"/>
            <a:ext cx="548640" cy="365760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9"/>
          <p:cNvSpPr/>
          <p:nvPr/>
        </p:nvSpPr>
        <p:spPr>
          <a:xfrm>
            <a:off x="2047006" y="2958577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 b="1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4" name="Google Shape;474;p39"/>
          <p:cNvSpPr/>
          <p:nvPr/>
        </p:nvSpPr>
        <p:spPr>
          <a:xfrm>
            <a:off x="2668798" y="2958577"/>
            <a:ext cx="548640" cy="365760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39"/>
          <p:cNvSpPr/>
          <p:nvPr/>
        </p:nvSpPr>
        <p:spPr>
          <a:xfrm>
            <a:off x="2668798" y="2958577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 b="1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6" name="Google Shape;476;p39"/>
          <p:cNvSpPr/>
          <p:nvPr/>
        </p:nvSpPr>
        <p:spPr>
          <a:xfrm>
            <a:off x="3290590" y="2958577"/>
            <a:ext cx="548640" cy="365760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39"/>
          <p:cNvSpPr/>
          <p:nvPr/>
        </p:nvSpPr>
        <p:spPr>
          <a:xfrm>
            <a:off x="3290590" y="2958577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 b="1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8" name="Google Shape;478;p39"/>
          <p:cNvSpPr/>
          <p:nvPr/>
        </p:nvSpPr>
        <p:spPr>
          <a:xfrm>
            <a:off x="3912382" y="2958577"/>
            <a:ext cx="548640" cy="36576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39"/>
          <p:cNvSpPr/>
          <p:nvPr/>
        </p:nvSpPr>
        <p:spPr>
          <a:xfrm>
            <a:off x="3912382" y="2958577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f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0" name="Google Shape;480;p39"/>
          <p:cNvSpPr/>
          <p:nvPr/>
        </p:nvSpPr>
        <p:spPr>
          <a:xfrm>
            <a:off x="411480" y="3432421"/>
            <a:ext cx="114102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Étape 4  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1" name="Google Shape;481;p39"/>
          <p:cNvSpPr/>
          <p:nvPr/>
        </p:nvSpPr>
        <p:spPr>
          <a:xfrm>
            <a:off x="2047006" y="3507217"/>
            <a:ext cx="548640" cy="365760"/>
          </a:xfrm>
          <a:prstGeom prst="rect">
            <a:avLst/>
          </a:prstGeom>
          <a:solidFill>
            <a:srgbClr val="EEF3FB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9"/>
          <p:cNvSpPr/>
          <p:nvPr/>
        </p:nvSpPr>
        <p:spPr>
          <a:xfrm>
            <a:off x="2047006" y="3507217"/>
            <a:ext cx="548640" cy="3657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 b="1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3" name="Google Shape;483;p39"/>
          <p:cNvSpPr/>
          <p:nvPr/>
        </p:nvSpPr>
        <p:spPr>
          <a:xfrm>
            <a:off x="2668798" y="3507217"/>
            <a:ext cx="548640" cy="365760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39"/>
          <p:cNvSpPr/>
          <p:nvPr/>
        </p:nvSpPr>
        <p:spPr>
          <a:xfrm>
            <a:off x="2668798" y="3507217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 b="1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5" name="Google Shape;485;p39"/>
          <p:cNvSpPr/>
          <p:nvPr/>
        </p:nvSpPr>
        <p:spPr>
          <a:xfrm>
            <a:off x="3290590" y="3507217"/>
            <a:ext cx="548640" cy="365760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9"/>
          <p:cNvSpPr/>
          <p:nvPr/>
        </p:nvSpPr>
        <p:spPr>
          <a:xfrm>
            <a:off x="3290590" y="3507217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 b="1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7" name="Google Shape;487;p39"/>
          <p:cNvSpPr/>
          <p:nvPr/>
        </p:nvSpPr>
        <p:spPr>
          <a:xfrm>
            <a:off x="3912382" y="3507217"/>
            <a:ext cx="548640" cy="365760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39"/>
          <p:cNvSpPr/>
          <p:nvPr/>
        </p:nvSpPr>
        <p:spPr>
          <a:xfrm>
            <a:off x="3912382" y="3507217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 b="1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9" name="Google Shape;489;p39"/>
          <p:cNvSpPr/>
          <p:nvPr/>
        </p:nvSpPr>
        <p:spPr>
          <a:xfrm>
            <a:off x="411480" y="3981061"/>
            <a:ext cx="114102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Étape 5  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0" name="Google Shape;490;p39"/>
          <p:cNvSpPr/>
          <p:nvPr/>
        </p:nvSpPr>
        <p:spPr>
          <a:xfrm>
            <a:off x="2047006" y="4055857"/>
            <a:ext cx="548640" cy="365760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39"/>
          <p:cNvSpPr/>
          <p:nvPr/>
        </p:nvSpPr>
        <p:spPr>
          <a:xfrm>
            <a:off x="2047006" y="4055857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 b="1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2" name="Google Shape;492;p39"/>
          <p:cNvSpPr/>
          <p:nvPr/>
        </p:nvSpPr>
        <p:spPr>
          <a:xfrm>
            <a:off x="2668798" y="4055857"/>
            <a:ext cx="548640" cy="365760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9"/>
          <p:cNvSpPr/>
          <p:nvPr/>
        </p:nvSpPr>
        <p:spPr>
          <a:xfrm>
            <a:off x="2668798" y="4055857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 b="1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4" name="Google Shape;494;p39"/>
          <p:cNvSpPr/>
          <p:nvPr/>
        </p:nvSpPr>
        <p:spPr>
          <a:xfrm>
            <a:off x="3290590" y="4055857"/>
            <a:ext cx="548640" cy="365760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9"/>
          <p:cNvSpPr/>
          <p:nvPr/>
        </p:nvSpPr>
        <p:spPr>
          <a:xfrm>
            <a:off x="3290590" y="4055857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 b="1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6" name="Google Shape;496;p39"/>
          <p:cNvSpPr/>
          <p:nvPr/>
        </p:nvSpPr>
        <p:spPr>
          <a:xfrm>
            <a:off x="3912382" y="4055857"/>
            <a:ext cx="548640" cy="365760"/>
          </a:xfrm>
          <a:prstGeom prst="rect">
            <a:avLst/>
          </a:prstGeom>
          <a:solidFill>
            <a:srgbClr val="EEF3FB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9"/>
          <p:cNvSpPr/>
          <p:nvPr/>
        </p:nvSpPr>
        <p:spPr>
          <a:xfrm>
            <a:off x="3912382" y="4055857"/>
            <a:ext cx="548640" cy="3657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 b="1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8" name="Google Shape;498;p39"/>
          <p:cNvSpPr/>
          <p:nvPr/>
        </p:nvSpPr>
        <p:spPr>
          <a:xfrm>
            <a:off x="4543252" y="1861297"/>
            <a:ext cx="548640" cy="36576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9"/>
          <p:cNvSpPr/>
          <p:nvPr/>
        </p:nvSpPr>
        <p:spPr>
          <a:xfrm>
            <a:off x="4543252" y="1861297"/>
            <a:ext cx="548640" cy="3657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f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0" name="Google Shape;500;p39"/>
          <p:cNvSpPr/>
          <p:nvPr/>
        </p:nvSpPr>
        <p:spPr>
          <a:xfrm>
            <a:off x="4543252" y="2409937"/>
            <a:ext cx="548640" cy="36576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9"/>
          <p:cNvSpPr/>
          <p:nvPr/>
        </p:nvSpPr>
        <p:spPr>
          <a:xfrm>
            <a:off x="4543252" y="2409937"/>
            <a:ext cx="548640" cy="3657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f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2" name="Google Shape;502;p39"/>
          <p:cNvSpPr/>
          <p:nvPr/>
        </p:nvSpPr>
        <p:spPr>
          <a:xfrm>
            <a:off x="4543252" y="2958577"/>
            <a:ext cx="548640" cy="36576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39"/>
          <p:cNvSpPr/>
          <p:nvPr/>
        </p:nvSpPr>
        <p:spPr>
          <a:xfrm>
            <a:off x="4543252" y="2958577"/>
            <a:ext cx="548640" cy="3657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f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4" name="Google Shape;504;p39"/>
          <p:cNvSpPr/>
          <p:nvPr/>
        </p:nvSpPr>
        <p:spPr>
          <a:xfrm>
            <a:off x="4543252" y="3507217"/>
            <a:ext cx="548640" cy="36576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39"/>
          <p:cNvSpPr/>
          <p:nvPr/>
        </p:nvSpPr>
        <p:spPr>
          <a:xfrm>
            <a:off x="4543252" y="3507217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f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6" name="Google Shape;506;p39"/>
          <p:cNvSpPr/>
          <p:nvPr/>
        </p:nvSpPr>
        <p:spPr>
          <a:xfrm>
            <a:off x="4543252" y="4055857"/>
            <a:ext cx="548640" cy="365760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9"/>
          <p:cNvSpPr/>
          <p:nvPr/>
        </p:nvSpPr>
        <p:spPr>
          <a:xfrm>
            <a:off x="4543252" y="4055857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500"/>
              <a:buFont typeface="Calibri"/>
              <a:buNone/>
            </a:pPr>
            <a:r>
              <a:rPr lang="fr" sz="1500" b="1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0"/>
          <p:cNvSpPr/>
          <p:nvPr/>
        </p:nvSpPr>
        <p:spPr>
          <a:xfrm>
            <a:off x="365760" y="73152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322"/>
              </a:buClr>
              <a:buSzPts val="9000"/>
              <a:buFont typeface="Georgia"/>
              <a:buNone/>
            </a:pPr>
            <a:r>
              <a:rPr lang="fr" sz="9000" b="1">
                <a:solidFill>
                  <a:srgbClr val="223322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9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4" name="Google Shape;514;p40"/>
          <p:cNvSpPr/>
          <p:nvPr/>
        </p:nvSpPr>
        <p:spPr>
          <a:xfrm>
            <a:off x="365760" y="731520"/>
            <a:ext cx="109728" cy="3474720"/>
          </a:xfrm>
          <a:prstGeom prst="rect">
            <a:avLst/>
          </a:prstGeom>
          <a:solidFill>
            <a:srgbClr val="6FCF7F"/>
          </a:solidFill>
          <a:ln w="12700" cap="flat" cmpd="sng">
            <a:solidFill>
              <a:srgbClr val="6FC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40"/>
          <p:cNvSpPr/>
          <p:nvPr/>
        </p:nvSpPr>
        <p:spPr>
          <a:xfrm>
            <a:off x="658368" y="86868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4600"/>
              <a:buFont typeface="Georgia"/>
              <a:buNone/>
            </a:pPr>
            <a:r>
              <a:rPr lang="fr" sz="4600" b="1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Algorithmes</a:t>
            </a:r>
            <a:endParaRPr sz="4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6" name="Google Shape;516;p40"/>
          <p:cNvSpPr/>
          <p:nvPr/>
        </p:nvSpPr>
        <p:spPr>
          <a:xfrm>
            <a:off x="658368" y="1664208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CF7F"/>
              </a:buClr>
              <a:buSzPts val="3600"/>
              <a:buFont typeface="Georgia"/>
              <a:buNone/>
            </a:pPr>
            <a:r>
              <a:rPr lang="fr" sz="3600">
                <a:solidFill>
                  <a:srgbClr val="6FCF7F"/>
                </a:solidFill>
                <a:latin typeface="Georgia"/>
                <a:ea typeface="Georgia"/>
                <a:cs typeface="Georgia"/>
                <a:sym typeface="Georgia"/>
              </a:rPr>
              <a:t>de Recherche</a:t>
            </a:r>
            <a:endParaRPr sz="3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7" name="Google Shape;517;p40"/>
          <p:cNvSpPr/>
          <p:nvPr/>
        </p:nvSpPr>
        <p:spPr>
          <a:xfrm>
            <a:off x="658368" y="3182112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500"/>
              <a:buFont typeface="Calibri"/>
              <a:buNone/>
            </a:pPr>
            <a:r>
              <a:rPr lang="fr" sz="1500" i="1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Linéaire  ·  Binaire (dichotomique)</a:t>
            </a:r>
            <a:endParaRPr sz="15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9" name="Google Shape;519;p40"/>
          <p:cNvSpPr/>
          <p:nvPr/>
        </p:nvSpPr>
        <p:spPr>
          <a:xfrm>
            <a:off x="822960" y="2999232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CF7F"/>
              </a:buClr>
              <a:buSzPts val="1300"/>
              <a:buFont typeface="Calibri"/>
              <a:buNone/>
            </a:pPr>
            <a:endParaRPr sz="13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0" name="Google Shape;520;p4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FCF7F"/>
          </a:solidFill>
          <a:ln w="12700" cap="flat" cmpd="sng">
            <a:solidFill>
              <a:srgbClr val="6FC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C948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41"/>
          <p:cNvSpPr/>
          <p:nvPr/>
        </p:nvSpPr>
        <p:spPr>
          <a:xfrm>
            <a:off x="411480" y="9657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600"/>
              <a:buFont typeface="Georgia"/>
              <a:buNone/>
            </a:pPr>
            <a:r>
              <a:rPr lang="fr" sz="2600" b="1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Recherche linéaire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8" name="Google Shape;528;p41"/>
          <p:cNvSpPr/>
          <p:nvPr/>
        </p:nvSpPr>
        <p:spPr>
          <a:xfrm>
            <a:off x="312146" y="3922776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9" name="Google Shape;529;p41"/>
          <p:cNvSpPr/>
          <p:nvPr/>
        </p:nvSpPr>
        <p:spPr>
          <a:xfrm>
            <a:off x="5270501" y="167515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i="1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Pseudo-code :</a:t>
            </a:r>
            <a:endParaRPr sz="11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0" name="Google Shape;530;p41"/>
          <p:cNvSpPr/>
          <p:nvPr/>
        </p:nvSpPr>
        <p:spPr>
          <a:xfrm>
            <a:off x="5270501" y="2116281"/>
            <a:ext cx="3784724" cy="2182755"/>
          </a:xfrm>
          <a:prstGeom prst="rect">
            <a:avLst/>
          </a:prstGeom>
          <a:solidFill>
            <a:srgbClr val="0D1F0D"/>
          </a:solidFill>
          <a:ln w="9525" cap="flat" cmpd="sng">
            <a:solidFill>
              <a:srgbClr val="9B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POUR i allant de  0 À n-1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SI tab[i] == element ALORS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  RETOURNER i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FIN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SI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FIN POUR</a:t>
            </a:r>
            <a:endParaRPr dirty="0"/>
          </a:p>
        </p:txBody>
      </p:sp>
      <p:sp>
        <p:nvSpPr>
          <p:cNvPr id="531" name="Google Shape;531;p41"/>
          <p:cNvSpPr/>
          <p:nvPr/>
        </p:nvSpPr>
        <p:spPr>
          <a:xfrm>
            <a:off x="5074920" y="3895344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2" name="Google Shape;532;p41"/>
          <p:cNvSpPr/>
          <p:nvPr/>
        </p:nvSpPr>
        <p:spPr>
          <a:xfrm>
            <a:off x="166765" y="1909830"/>
            <a:ext cx="350101" cy="348744"/>
          </a:xfrm>
          <a:prstGeom prst="rect">
            <a:avLst/>
          </a:prstGeom>
          <a:solidFill>
            <a:srgbClr val="E2E8F0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41"/>
          <p:cNvSpPr/>
          <p:nvPr/>
        </p:nvSpPr>
        <p:spPr>
          <a:xfrm>
            <a:off x="166765" y="1909830"/>
            <a:ext cx="350101" cy="348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34" name="Google Shape;534;p41"/>
          <p:cNvSpPr/>
          <p:nvPr/>
        </p:nvSpPr>
        <p:spPr>
          <a:xfrm>
            <a:off x="166765" y="2540169"/>
            <a:ext cx="350101" cy="116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[0]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1"/>
          <p:cNvSpPr/>
          <p:nvPr/>
        </p:nvSpPr>
        <p:spPr>
          <a:xfrm>
            <a:off x="818423" y="1914927"/>
            <a:ext cx="350101" cy="348744"/>
          </a:xfrm>
          <a:prstGeom prst="rect">
            <a:avLst/>
          </a:prstGeom>
          <a:solidFill>
            <a:srgbClr val="E2E8F0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41"/>
          <p:cNvSpPr/>
          <p:nvPr/>
        </p:nvSpPr>
        <p:spPr>
          <a:xfrm>
            <a:off x="818423" y="1914927"/>
            <a:ext cx="350101" cy="348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37" name="Google Shape;537;p41"/>
          <p:cNvSpPr/>
          <p:nvPr/>
        </p:nvSpPr>
        <p:spPr>
          <a:xfrm>
            <a:off x="818423" y="2545266"/>
            <a:ext cx="350101" cy="116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[1]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1"/>
          <p:cNvSpPr/>
          <p:nvPr/>
        </p:nvSpPr>
        <p:spPr>
          <a:xfrm>
            <a:off x="1499948" y="1909830"/>
            <a:ext cx="350101" cy="348744"/>
          </a:xfrm>
          <a:prstGeom prst="rect">
            <a:avLst/>
          </a:prstGeom>
          <a:solidFill>
            <a:srgbClr val="E2E8F0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41"/>
          <p:cNvSpPr/>
          <p:nvPr/>
        </p:nvSpPr>
        <p:spPr>
          <a:xfrm>
            <a:off x="1499948" y="1909830"/>
            <a:ext cx="350101" cy="348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40" name="Google Shape;540;p41"/>
          <p:cNvSpPr/>
          <p:nvPr/>
        </p:nvSpPr>
        <p:spPr>
          <a:xfrm>
            <a:off x="1499948" y="2540169"/>
            <a:ext cx="350101" cy="116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[2]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1"/>
          <p:cNvSpPr/>
          <p:nvPr/>
        </p:nvSpPr>
        <p:spPr>
          <a:xfrm>
            <a:off x="2167988" y="1909830"/>
            <a:ext cx="350101" cy="348744"/>
          </a:xfrm>
          <a:prstGeom prst="rect">
            <a:avLst/>
          </a:prstGeom>
          <a:solidFill>
            <a:srgbClr val="10B981"/>
          </a:solidFill>
          <a:ln w="254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41"/>
          <p:cNvSpPr/>
          <p:nvPr/>
        </p:nvSpPr>
        <p:spPr>
          <a:xfrm>
            <a:off x="2167988" y="1909830"/>
            <a:ext cx="350101" cy="348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fr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1"/>
          <p:cNvSpPr/>
          <p:nvPr/>
        </p:nvSpPr>
        <p:spPr>
          <a:xfrm>
            <a:off x="2167988" y="2540169"/>
            <a:ext cx="350101" cy="116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1"/>
          <p:cNvSpPr/>
          <p:nvPr/>
        </p:nvSpPr>
        <p:spPr>
          <a:xfrm>
            <a:off x="2833131" y="1898296"/>
            <a:ext cx="350101" cy="34874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1"/>
          <p:cNvSpPr/>
          <p:nvPr/>
        </p:nvSpPr>
        <p:spPr>
          <a:xfrm>
            <a:off x="2833131" y="1909725"/>
            <a:ext cx="350101" cy="348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lang="fr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41"/>
          <p:cNvSpPr/>
          <p:nvPr/>
        </p:nvSpPr>
        <p:spPr>
          <a:xfrm>
            <a:off x="2833131" y="2540064"/>
            <a:ext cx="350101" cy="116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1"/>
          <p:cNvSpPr/>
          <p:nvPr/>
        </p:nvSpPr>
        <p:spPr>
          <a:xfrm>
            <a:off x="3498274" y="1903052"/>
            <a:ext cx="350101" cy="34874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1"/>
          <p:cNvSpPr/>
          <p:nvPr/>
        </p:nvSpPr>
        <p:spPr>
          <a:xfrm>
            <a:off x="3498274" y="1903052"/>
            <a:ext cx="350101" cy="348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lang="fr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1"/>
          <p:cNvSpPr/>
          <p:nvPr/>
        </p:nvSpPr>
        <p:spPr>
          <a:xfrm>
            <a:off x="3498274" y="2533391"/>
            <a:ext cx="350101" cy="116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[5]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41"/>
          <p:cNvSpPr/>
          <p:nvPr/>
        </p:nvSpPr>
        <p:spPr>
          <a:xfrm>
            <a:off x="4149932" y="1887494"/>
            <a:ext cx="350101" cy="34874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41"/>
          <p:cNvSpPr/>
          <p:nvPr/>
        </p:nvSpPr>
        <p:spPr>
          <a:xfrm>
            <a:off x="4149932" y="1887494"/>
            <a:ext cx="350101" cy="348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lang="fr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41"/>
          <p:cNvSpPr/>
          <p:nvPr/>
        </p:nvSpPr>
        <p:spPr>
          <a:xfrm>
            <a:off x="4149932" y="2517833"/>
            <a:ext cx="350101" cy="116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[6]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1"/>
          <p:cNvSpPr/>
          <p:nvPr/>
        </p:nvSpPr>
        <p:spPr>
          <a:xfrm>
            <a:off x="196953" y="3130198"/>
            <a:ext cx="4303080" cy="35661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41"/>
          <p:cNvSpPr/>
          <p:nvPr/>
        </p:nvSpPr>
        <p:spPr>
          <a:xfrm>
            <a:off x="208934" y="3157630"/>
            <a:ext cx="64218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lang="fr" sz="10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i = 0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5" name="Google Shape;555;p41"/>
          <p:cNvSpPr/>
          <p:nvPr/>
        </p:nvSpPr>
        <p:spPr>
          <a:xfrm>
            <a:off x="935950" y="3157630"/>
            <a:ext cx="201828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lang="fr" sz="10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tableau[0] = 3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6" name="Google Shape;556;p41"/>
          <p:cNvSpPr/>
          <p:nvPr/>
        </p:nvSpPr>
        <p:spPr>
          <a:xfrm>
            <a:off x="2048519" y="3137069"/>
            <a:ext cx="5303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entury Gothic"/>
              <a:buNone/>
            </a:pPr>
            <a:r>
              <a:rPr lang="fr"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 ≠ 7  → continuer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7" name="Google Shape;557;p41"/>
          <p:cNvSpPr/>
          <p:nvPr/>
        </p:nvSpPr>
        <p:spPr>
          <a:xfrm>
            <a:off x="196952" y="3514246"/>
            <a:ext cx="4303081" cy="356616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41"/>
          <p:cNvSpPr/>
          <p:nvPr/>
        </p:nvSpPr>
        <p:spPr>
          <a:xfrm>
            <a:off x="208934" y="3541678"/>
            <a:ext cx="64218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lang="fr" sz="10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i = 1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9" name="Google Shape;559;p41"/>
          <p:cNvSpPr/>
          <p:nvPr/>
        </p:nvSpPr>
        <p:spPr>
          <a:xfrm>
            <a:off x="935950" y="3541678"/>
            <a:ext cx="201828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lang="fr" sz="10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tableau[1] = 9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0" name="Google Shape;560;p41"/>
          <p:cNvSpPr/>
          <p:nvPr/>
        </p:nvSpPr>
        <p:spPr>
          <a:xfrm>
            <a:off x="2072991" y="3551672"/>
            <a:ext cx="5303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entury Gothic"/>
              <a:buNone/>
            </a:pPr>
            <a:r>
              <a:rPr lang="fr"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 ≠ 7  → continuer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1" name="Google Shape;561;p41"/>
          <p:cNvSpPr/>
          <p:nvPr/>
        </p:nvSpPr>
        <p:spPr>
          <a:xfrm>
            <a:off x="196952" y="3898294"/>
            <a:ext cx="4303081" cy="35661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41"/>
          <p:cNvSpPr/>
          <p:nvPr/>
        </p:nvSpPr>
        <p:spPr>
          <a:xfrm>
            <a:off x="208934" y="3925726"/>
            <a:ext cx="64218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lang="fr" sz="10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i = 2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3" name="Google Shape;563;p41"/>
          <p:cNvSpPr/>
          <p:nvPr/>
        </p:nvSpPr>
        <p:spPr>
          <a:xfrm>
            <a:off x="935950" y="3925726"/>
            <a:ext cx="201828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lang="fr" sz="10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tableau[2] = 1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4" name="Google Shape;564;p41"/>
          <p:cNvSpPr/>
          <p:nvPr/>
        </p:nvSpPr>
        <p:spPr>
          <a:xfrm>
            <a:off x="2048519" y="3932598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entury Gothic"/>
              <a:buNone/>
            </a:pPr>
            <a:r>
              <a:rPr lang="fr"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 ≠ 7  → continuer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5" name="Google Shape;565;p41"/>
          <p:cNvSpPr/>
          <p:nvPr/>
        </p:nvSpPr>
        <p:spPr>
          <a:xfrm>
            <a:off x="196952" y="4282342"/>
            <a:ext cx="4303081" cy="356616"/>
          </a:xfrm>
          <a:prstGeom prst="rect">
            <a:avLst/>
          </a:prstGeom>
          <a:solidFill>
            <a:srgbClr val="ECFDF5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41"/>
          <p:cNvSpPr/>
          <p:nvPr/>
        </p:nvSpPr>
        <p:spPr>
          <a:xfrm>
            <a:off x="208934" y="4309774"/>
            <a:ext cx="64218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lang="fr" sz="10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i = 3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7" name="Google Shape;567;p41"/>
          <p:cNvSpPr/>
          <p:nvPr/>
        </p:nvSpPr>
        <p:spPr>
          <a:xfrm>
            <a:off x="935950" y="4309774"/>
            <a:ext cx="201828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lang="fr" sz="10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tableau[3] = 7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8" name="Google Shape;568;p41"/>
          <p:cNvSpPr/>
          <p:nvPr/>
        </p:nvSpPr>
        <p:spPr>
          <a:xfrm>
            <a:off x="2048519" y="4344078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entury Gothic"/>
              <a:buNone/>
            </a:pPr>
            <a:r>
              <a:rPr lang="fr" sz="1000" b="1">
                <a:solidFill>
                  <a:srgbClr val="10B9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 == 7  → TROUVÉ ! Retourner index 3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9" name="Google Shape;569;p41"/>
          <p:cNvSpPr/>
          <p:nvPr/>
        </p:nvSpPr>
        <p:spPr>
          <a:xfrm>
            <a:off x="166765" y="1639121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i="1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Tableau </a:t>
            </a:r>
            <a:r>
              <a:rPr lang="fr" sz="1100" i="1" dirty="0" smtClean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" sz="1100" i="1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0" name="Google Shape;570;p41"/>
          <p:cNvSpPr/>
          <p:nvPr/>
        </p:nvSpPr>
        <p:spPr>
          <a:xfrm>
            <a:off x="142755" y="27597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i="1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On veut chercher </a:t>
            </a:r>
            <a:r>
              <a:rPr lang="fr" sz="1100" b="1" i="1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fr" sz="1100" i="1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sz="11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1" name="Google Shape;571;p41"/>
          <p:cNvSpPr/>
          <p:nvPr/>
        </p:nvSpPr>
        <p:spPr>
          <a:xfrm>
            <a:off x="341815" y="1060121"/>
            <a:ext cx="8548982" cy="387335"/>
          </a:xfrm>
          <a:prstGeom prst="rect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    Principe : </a:t>
            </a:r>
            <a:r>
              <a:rPr lang="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Parcourir chaque élément un par un jusqu'à trouver la cible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C948"/>
          </a:solidFill>
          <a:ln w="12700" cap="flat" cmpd="sng">
            <a:solidFill>
              <a:srgbClr val="F7C9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42"/>
          <p:cNvSpPr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600"/>
              <a:buFont typeface="Georgia"/>
              <a:buNone/>
            </a:pPr>
            <a:r>
              <a:rPr lang="fr" sz="2600" b="1">
                <a:solidFill>
                  <a:srgbClr val="F5F0E8"/>
                </a:solidFill>
                <a:latin typeface="Georgia"/>
                <a:ea typeface="Georgia"/>
                <a:cs typeface="Georgia"/>
                <a:sym typeface="Georgia"/>
              </a:rPr>
              <a:t>Recherche binaire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9" name="Google Shape;579;p42"/>
          <p:cNvSpPr/>
          <p:nvPr/>
        </p:nvSpPr>
        <p:spPr>
          <a:xfrm>
            <a:off x="4785896" y="1749337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i="1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Pseudo-code :</a:t>
            </a:r>
            <a:endParaRPr sz="11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0" name="Google Shape;580;p42"/>
          <p:cNvSpPr/>
          <p:nvPr/>
        </p:nvSpPr>
        <p:spPr>
          <a:xfrm>
            <a:off x="4785896" y="2110525"/>
            <a:ext cx="4252650" cy="2852928"/>
          </a:xfrm>
          <a:prstGeom prst="rect">
            <a:avLst/>
          </a:prstGeom>
          <a:solidFill>
            <a:srgbClr val="0D1F0D"/>
          </a:solidFill>
          <a:ln w="9525" cap="flat" cmpd="sng">
            <a:solidFill>
              <a:srgbClr val="9B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g </a:t>
            </a: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= 0,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d </a:t>
            </a: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= n-1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TANT QUE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g </a:t>
            </a: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&lt;=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d </a:t>
            </a: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FAIRE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m =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g </a:t>
            </a: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fr" sz="1300" dirty="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(d-g)/</a:t>
            </a: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SI tab[m</a:t>
            </a:r>
            <a:r>
              <a:rPr lang="fr" sz="130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fr" sz="1300" smtClean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== </a:t>
            </a: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element ALORS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	afficher m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SI tab[m] &lt; element ALORS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	g = m + 1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SINON 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d = m-1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  FIN SI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>
                <a:solidFill>
                  <a:srgbClr val="E2F0FF"/>
                </a:solidFill>
                <a:latin typeface="Courier New"/>
                <a:ea typeface="Courier New"/>
                <a:cs typeface="Courier New"/>
                <a:sym typeface="Courier New"/>
              </a:rPr>
              <a:t>FIN TANT QUE</a:t>
            </a: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rgbClr val="E2F0FF"/>
              </a:buClr>
              <a:buSzPts val="1300"/>
              <a:buFont typeface="Courier New"/>
              <a:buNone/>
            </a:pPr>
            <a:endParaRPr sz="1300" dirty="0">
              <a:solidFill>
                <a:srgbClr val="E2F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2" name="Google Shape;582;p42"/>
          <p:cNvSpPr/>
          <p:nvPr/>
        </p:nvSpPr>
        <p:spPr>
          <a:xfrm>
            <a:off x="502920" y="4910328"/>
            <a:ext cx="8183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entury Gothic"/>
              <a:buNone/>
            </a:pP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4" name="Google Shape;584;p42"/>
          <p:cNvSpPr/>
          <p:nvPr/>
        </p:nvSpPr>
        <p:spPr>
          <a:xfrm>
            <a:off x="502920" y="5678424"/>
            <a:ext cx="8183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entury Gothic"/>
              <a:buNone/>
            </a:pP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5" name="Google Shape;585;p42"/>
          <p:cNvSpPr/>
          <p:nvPr/>
        </p:nvSpPr>
        <p:spPr>
          <a:xfrm>
            <a:off x="502920" y="6062472"/>
            <a:ext cx="8183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entury Gothic"/>
              <a:buNone/>
            </a:pP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6" name="Google Shape;586;p42"/>
          <p:cNvSpPr/>
          <p:nvPr/>
        </p:nvSpPr>
        <p:spPr>
          <a:xfrm>
            <a:off x="204267" y="1933380"/>
            <a:ext cx="342078" cy="34477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42"/>
          <p:cNvSpPr/>
          <p:nvPr/>
        </p:nvSpPr>
        <p:spPr>
          <a:xfrm>
            <a:off x="204267" y="1933380"/>
            <a:ext cx="342078" cy="344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600"/>
              <a:buFont typeface="Calibri"/>
              <a:buNone/>
            </a:pPr>
            <a:r>
              <a:rPr lang="fr" sz="1600" dirty="0" smtClean="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8" name="Google Shape;588;p42"/>
          <p:cNvSpPr/>
          <p:nvPr/>
        </p:nvSpPr>
        <p:spPr>
          <a:xfrm>
            <a:off x="204267" y="2589715"/>
            <a:ext cx="342078" cy="134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fr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[0]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9" name="Google Shape;589;p42"/>
          <p:cNvSpPr/>
          <p:nvPr/>
        </p:nvSpPr>
        <p:spPr>
          <a:xfrm>
            <a:off x="863621" y="1950993"/>
            <a:ext cx="342078" cy="34477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42"/>
          <p:cNvSpPr/>
          <p:nvPr/>
        </p:nvSpPr>
        <p:spPr>
          <a:xfrm>
            <a:off x="863621" y="1950993"/>
            <a:ext cx="342078" cy="344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600"/>
              <a:buFont typeface="Calibri"/>
              <a:buNone/>
            </a:pPr>
            <a:r>
              <a:rPr lang="fr" sz="160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1" name="Google Shape;591;p42"/>
          <p:cNvSpPr/>
          <p:nvPr/>
        </p:nvSpPr>
        <p:spPr>
          <a:xfrm>
            <a:off x="863621" y="2607328"/>
            <a:ext cx="342078" cy="134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fr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[1]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2" name="Google Shape;592;p42"/>
          <p:cNvSpPr/>
          <p:nvPr/>
        </p:nvSpPr>
        <p:spPr>
          <a:xfrm>
            <a:off x="1511692" y="1941967"/>
            <a:ext cx="342078" cy="34477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42"/>
          <p:cNvSpPr/>
          <p:nvPr/>
        </p:nvSpPr>
        <p:spPr>
          <a:xfrm>
            <a:off x="1511692" y="1941967"/>
            <a:ext cx="342078" cy="344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600"/>
              <a:buFont typeface="Calibri"/>
              <a:buNone/>
            </a:pPr>
            <a:r>
              <a:rPr lang="fr" sz="1600" dirty="0">
                <a:solidFill>
                  <a:srgbClr val="0F2044"/>
                </a:solidFill>
                <a:latin typeface="Calibri"/>
                <a:ea typeface="Century Gothic"/>
                <a:cs typeface="Calibri"/>
                <a:sym typeface="Calibri"/>
              </a:rPr>
              <a:t>6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4" name="Google Shape;594;p42"/>
          <p:cNvSpPr/>
          <p:nvPr/>
        </p:nvSpPr>
        <p:spPr>
          <a:xfrm>
            <a:off x="1511692" y="2598302"/>
            <a:ext cx="342078" cy="134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fr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[2]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5" name="Google Shape;595;p42"/>
          <p:cNvSpPr/>
          <p:nvPr/>
        </p:nvSpPr>
        <p:spPr>
          <a:xfrm>
            <a:off x="2171046" y="1935717"/>
            <a:ext cx="342078" cy="344774"/>
          </a:xfrm>
          <a:prstGeom prst="rect">
            <a:avLst/>
          </a:prstGeom>
          <a:solidFill>
            <a:srgbClr val="3D8EF0"/>
          </a:solidFill>
          <a:ln w="25400" cap="flat" cmpd="sng">
            <a:solidFill>
              <a:srgbClr val="3D8E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42"/>
          <p:cNvSpPr/>
          <p:nvPr/>
        </p:nvSpPr>
        <p:spPr>
          <a:xfrm>
            <a:off x="2171046" y="1935717"/>
            <a:ext cx="342078" cy="344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fr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6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7" name="Google Shape;597;p42"/>
          <p:cNvSpPr/>
          <p:nvPr/>
        </p:nvSpPr>
        <p:spPr>
          <a:xfrm>
            <a:off x="2171046" y="2592052"/>
            <a:ext cx="342078" cy="134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fr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8" name="Google Shape;598;p42"/>
          <p:cNvSpPr/>
          <p:nvPr/>
        </p:nvSpPr>
        <p:spPr>
          <a:xfrm>
            <a:off x="2830400" y="1941967"/>
            <a:ext cx="342078" cy="34477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42"/>
          <p:cNvSpPr/>
          <p:nvPr/>
        </p:nvSpPr>
        <p:spPr>
          <a:xfrm>
            <a:off x="2830400" y="1941967"/>
            <a:ext cx="342078" cy="344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600"/>
              <a:buFont typeface="Calibri"/>
              <a:buNone/>
            </a:pPr>
            <a:r>
              <a:rPr lang="fr" sz="160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0" name="Google Shape;600;p42"/>
          <p:cNvSpPr/>
          <p:nvPr/>
        </p:nvSpPr>
        <p:spPr>
          <a:xfrm>
            <a:off x="2830400" y="2598302"/>
            <a:ext cx="342078" cy="134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fr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1" name="Google Shape;601;p42"/>
          <p:cNvSpPr/>
          <p:nvPr/>
        </p:nvSpPr>
        <p:spPr>
          <a:xfrm>
            <a:off x="3489754" y="1948593"/>
            <a:ext cx="342078" cy="34477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42"/>
          <p:cNvSpPr/>
          <p:nvPr/>
        </p:nvSpPr>
        <p:spPr>
          <a:xfrm>
            <a:off x="3489754" y="1948593"/>
            <a:ext cx="342078" cy="344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600"/>
              <a:buFont typeface="Calibri"/>
              <a:buNone/>
            </a:pPr>
            <a:r>
              <a:rPr lang="fr" sz="1600" dirty="0" smtClean="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3" name="Google Shape;603;p42"/>
          <p:cNvSpPr/>
          <p:nvPr/>
        </p:nvSpPr>
        <p:spPr>
          <a:xfrm>
            <a:off x="3489754" y="2604928"/>
            <a:ext cx="342078" cy="134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fr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[5]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4" name="Google Shape;604;p42"/>
          <p:cNvSpPr/>
          <p:nvPr/>
        </p:nvSpPr>
        <p:spPr>
          <a:xfrm>
            <a:off x="4137825" y="1948593"/>
            <a:ext cx="342078" cy="34477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DB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42"/>
          <p:cNvSpPr/>
          <p:nvPr/>
        </p:nvSpPr>
        <p:spPr>
          <a:xfrm>
            <a:off x="4137825" y="1948593"/>
            <a:ext cx="342078" cy="344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600"/>
              <a:buFont typeface="Calibri"/>
              <a:buNone/>
            </a:pPr>
            <a:r>
              <a:rPr lang="fr" sz="1600" dirty="0" smtClean="0">
                <a:solidFill>
                  <a:srgbClr val="0F2044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6" name="Google Shape;606;p42"/>
          <p:cNvSpPr/>
          <p:nvPr/>
        </p:nvSpPr>
        <p:spPr>
          <a:xfrm>
            <a:off x="4137825" y="2604928"/>
            <a:ext cx="342078" cy="134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fr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[6]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7" name="Google Shape;607;p42"/>
          <p:cNvSpPr/>
          <p:nvPr/>
        </p:nvSpPr>
        <p:spPr>
          <a:xfrm>
            <a:off x="204267" y="2845747"/>
            <a:ext cx="342078" cy="134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600"/>
              <a:buFont typeface="Calibri"/>
              <a:buNone/>
            </a:pPr>
            <a:r>
              <a:rPr lang="fr" sz="1600" b="1" dirty="0" smtClean="0">
                <a:solidFill>
                  <a:srgbClr val="16A34A"/>
                </a:solidFill>
                <a:latin typeface="Calibri"/>
                <a:ea typeface="Century Gothic"/>
                <a:cs typeface="Calibri"/>
                <a:sym typeface="Calibri"/>
              </a:rPr>
              <a:t>g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8" name="Google Shape;608;p42"/>
          <p:cNvSpPr/>
          <p:nvPr/>
        </p:nvSpPr>
        <p:spPr>
          <a:xfrm>
            <a:off x="4137825" y="2860960"/>
            <a:ext cx="342078" cy="134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600"/>
              <a:buFont typeface="Calibri"/>
              <a:buNone/>
            </a:pPr>
            <a:r>
              <a:rPr lang="fr" sz="1600" b="1" dirty="0" smtClean="0">
                <a:solidFill>
                  <a:srgbClr val="EA580C"/>
                </a:solidFill>
                <a:latin typeface="Calibri"/>
                <a:ea typeface="Century Gothic"/>
                <a:cs typeface="Calibri"/>
                <a:sym typeface="Calibri"/>
              </a:rPr>
              <a:t>d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9" name="Google Shape;609;p42"/>
          <p:cNvSpPr/>
          <p:nvPr/>
        </p:nvSpPr>
        <p:spPr>
          <a:xfrm>
            <a:off x="2171046" y="2848084"/>
            <a:ext cx="342078" cy="134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8EF0"/>
              </a:buClr>
              <a:buSzPts val="1600"/>
              <a:buFont typeface="Calibri"/>
              <a:buNone/>
            </a:pPr>
            <a:r>
              <a:rPr lang="fr" sz="1600" b="1" dirty="0" smtClean="0">
                <a:solidFill>
                  <a:srgbClr val="3D8EF0"/>
                </a:solidFill>
                <a:latin typeface="Calibri"/>
                <a:ea typeface="Calibri"/>
                <a:cs typeface="Calibri"/>
                <a:sym typeface="Calibri"/>
              </a:rPr>
              <a:t>m✓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0" name="Google Shape;610;p42"/>
          <p:cNvSpPr/>
          <p:nvPr/>
        </p:nvSpPr>
        <p:spPr>
          <a:xfrm>
            <a:off x="341815" y="1060121"/>
            <a:ext cx="8548982" cy="387335"/>
          </a:xfrm>
          <a:prstGeom prst="rect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fr" sz="1200" b="1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Principe</a:t>
            </a:r>
            <a:r>
              <a:rPr lang="fr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" sz="1200" b="1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Diviser l'espace de recherche par 2 à chaque étape — tableau trié requis </a:t>
            </a:r>
            <a:r>
              <a:rPr lang="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2"/>
          <p:cNvSpPr/>
          <p:nvPr/>
        </p:nvSpPr>
        <p:spPr>
          <a:xfrm>
            <a:off x="204267" y="3335821"/>
            <a:ext cx="4275636" cy="402336"/>
          </a:xfrm>
          <a:prstGeom prst="rect">
            <a:avLst/>
          </a:prstGeom>
          <a:solidFill>
            <a:srgbClr val="F0F4FF"/>
          </a:solidFill>
          <a:ln w="12700" cap="flat" cmpd="sng">
            <a:solidFill>
              <a:srgbClr val="BFD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42"/>
          <p:cNvSpPr/>
          <p:nvPr/>
        </p:nvSpPr>
        <p:spPr>
          <a:xfrm>
            <a:off x="248663" y="3322574"/>
            <a:ext cx="417786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50" dirty="0" smtClean="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g=0</a:t>
            </a:r>
            <a:r>
              <a:rPr lang="fr" sz="115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fr" sz="115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d=6</a:t>
            </a:r>
            <a:r>
              <a:rPr lang="fr" sz="115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" sz="115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</a:t>
            </a:r>
            <a:r>
              <a:rPr lang="fr" sz="115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" sz="115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milieu = </a:t>
            </a:r>
            <a:r>
              <a:rPr lang="fr" sz="115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 + (6-0)/</a:t>
            </a:r>
            <a:r>
              <a:rPr lang="fr" sz="115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 = 3  </a:t>
            </a:r>
            <a:r>
              <a:rPr lang="fr" sz="115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</a:t>
            </a:r>
            <a:r>
              <a:rPr lang="fr" sz="115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" sz="115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tab[3] = </a:t>
            </a:r>
            <a:r>
              <a:rPr lang="fr" sz="1150" dirty="0">
                <a:solidFill>
                  <a:srgbClr val="3D8EF0"/>
                </a:solidFill>
                <a:latin typeface="Calibri"/>
                <a:ea typeface="Calibri"/>
                <a:cs typeface="Calibri"/>
                <a:sym typeface="Calibri"/>
              </a:rPr>
              <a:t>7 = </a:t>
            </a:r>
            <a:r>
              <a:rPr lang="fr" sz="1150" dirty="0" smtClean="0">
                <a:solidFill>
                  <a:srgbClr val="3D8EF0"/>
                </a:solidFill>
                <a:latin typeface="Calibri"/>
                <a:ea typeface="Calibri"/>
                <a:cs typeface="Calibri"/>
                <a:sym typeface="Calibri"/>
              </a:rPr>
              <a:t>cible, m=3  </a:t>
            </a:r>
            <a:endParaRPr sz="1150" dirty="0">
              <a:solidFill>
                <a:srgbClr val="3D8EF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" name="Google Shape;570;p41"/>
          <p:cNvSpPr/>
          <p:nvPr/>
        </p:nvSpPr>
        <p:spPr>
          <a:xfrm>
            <a:off x="204267" y="301854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i="1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On veut chercher </a:t>
            </a:r>
            <a:r>
              <a:rPr lang="fr" sz="1100" b="1" i="1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fr" sz="1100" i="1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sz="11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" name="Google Shape;611;p42"/>
          <p:cNvSpPr/>
          <p:nvPr/>
        </p:nvSpPr>
        <p:spPr>
          <a:xfrm>
            <a:off x="204267" y="4214617"/>
            <a:ext cx="4275636" cy="539500"/>
          </a:xfrm>
          <a:prstGeom prst="rect">
            <a:avLst/>
          </a:prstGeom>
          <a:solidFill>
            <a:srgbClr val="F0F4FF"/>
          </a:solidFill>
          <a:ln w="12700" cap="flat" cmpd="sng">
            <a:solidFill>
              <a:srgbClr val="BFD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612;p42"/>
          <p:cNvSpPr/>
          <p:nvPr/>
        </p:nvSpPr>
        <p:spPr>
          <a:xfrm>
            <a:off x="289560" y="4178678"/>
            <a:ext cx="3848932" cy="731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50" dirty="0" smtClean="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g=0</a:t>
            </a:r>
            <a:r>
              <a:rPr lang="fr" sz="115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fr" sz="115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d=6</a:t>
            </a:r>
            <a:r>
              <a:rPr lang="fr" sz="115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" sz="115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</a:t>
            </a:r>
            <a:r>
              <a:rPr lang="fr" sz="115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" sz="115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milieu = </a:t>
            </a:r>
            <a:r>
              <a:rPr lang="fr" sz="115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 + (6-0)/</a:t>
            </a:r>
            <a:r>
              <a:rPr lang="fr" sz="115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 = 3  </a:t>
            </a:r>
            <a:r>
              <a:rPr lang="fr" sz="115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tab[3] = 7 &lt; 10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50" dirty="0" smtClean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g =3+1 = 4, </a:t>
            </a:r>
            <a:r>
              <a:rPr lang="fr" sz="1150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d=6 </a:t>
            </a:r>
            <a:r>
              <a:rPr lang="fr" sz="1150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milieu = 4 + (6-4)/2 = 5  tab[5] = 10 = cible = </a:t>
            </a:r>
            <a:endParaRPr lang="fr" sz="1150" dirty="0" smtClean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 dirty="0">
              <a:solidFill>
                <a:srgbClr val="3D8EF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" name="Google Shape;570;p41"/>
          <p:cNvSpPr/>
          <p:nvPr/>
        </p:nvSpPr>
        <p:spPr>
          <a:xfrm>
            <a:off x="204267" y="3897344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FA0"/>
              </a:buClr>
              <a:buSzPts val="1100"/>
              <a:buFont typeface="Calibri"/>
              <a:buNone/>
            </a:pPr>
            <a:r>
              <a:rPr lang="fr" sz="1100" i="1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On veut chercher </a:t>
            </a:r>
            <a:r>
              <a:rPr lang="fr" sz="1100" b="1" i="1" dirty="0" smtClean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fr" sz="1100" i="1" dirty="0" smtClean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" sz="1100" i="1" dirty="0">
                <a:solidFill>
                  <a:srgbClr val="9BBFA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isp">
  <a:themeElements>
    <a:clrScheme name="Wisp">
      <a:dk1>
        <a:srgbClr val="000000"/>
      </a:dk1>
      <a:lt1>
        <a:srgbClr val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981</Words>
  <Application>Microsoft Office PowerPoint</Application>
  <PresentationFormat>On-screen Show (16:9)</PresentationFormat>
  <Paragraphs>274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Noto Sans Symbols</vt:lpstr>
      <vt:lpstr>Consolas</vt:lpstr>
      <vt:lpstr>Century Gothic</vt:lpstr>
      <vt:lpstr>Calibri</vt:lpstr>
      <vt:lpstr>Georgia</vt:lpstr>
      <vt:lpstr>Arial</vt:lpstr>
      <vt:lpstr>Wingdings</vt:lpstr>
      <vt:lpstr>Courier New</vt:lpstr>
      <vt:lpstr>Simple Light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10</cp:revision>
  <dcterms:modified xsi:type="dcterms:W3CDTF">2026-04-12T16:12:20Z</dcterms:modified>
</cp:coreProperties>
</file>